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8" r:id="rId4"/>
    <p:sldId id="272" r:id="rId5"/>
    <p:sldId id="285" r:id="rId6"/>
    <p:sldId id="273" r:id="rId7"/>
    <p:sldId id="293" r:id="rId8"/>
    <p:sldId id="274" r:id="rId9"/>
    <p:sldId id="287" r:id="rId10"/>
    <p:sldId id="275" r:id="rId11"/>
    <p:sldId id="288" r:id="rId12"/>
    <p:sldId id="276" r:id="rId13"/>
    <p:sldId id="289" r:id="rId14"/>
    <p:sldId id="277" r:id="rId15"/>
    <p:sldId id="290" r:id="rId16"/>
    <p:sldId id="265" r:id="rId17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95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152" y="-3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9C4AAD-94D9-45FE-8413-826D9895A53F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0929B-2A4E-473F-948F-369CCD92A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18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0929B-2A4E-473F-948F-369CCD92AB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91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76200"/>
          </a:xfrm>
          <a:prstGeom prst="rect">
            <a:avLst/>
          </a:prstGeom>
          <a:solidFill>
            <a:srgbClr val="EF9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448269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487" y="728314"/>
            <a:ext cx="1563875" cy="249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dirty="0" err="1">
                <a:solidFill>
                  <a:srgbClr val="111111"/>
                </a:solidFill>
                <a:latin typeface="Segoe UI"/>
              </a:rPr>
              <a:t>Ignytion</a:t>
            </a:r>
            <a:r>
              <a:rPr sz="1600" b="1" i="0" dirty="0">
                <a:solidFill>
                  <a:srgbClr val="111111"/>
                </a:solidFill>
                <a:latin typeface="Segoe UI"/>
              </a:rPr>
              <a:t> 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6556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spc="150">
                <a:solidFill>
                  <a:srgbClr val="EF9529"/>
                </a:solidFill>
                <a:latin typeface="Segoe UI"/>
              </a:rPr>
              <a:t>IGNYTION IO · TECHNICAL LAB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6556248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</a:rPr>
              <a:t>Analog CMOS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</a:rPr>
              <a:t>Experiments on 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</a:rPr>
              <a:t>Reproducible Workbench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0"/>
            <a:ext cx="6556248" cy="2183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1" dirty="0">
                <a:solidFill>
                  <a:srgbClr val="EF9529"/>
                </a:solidFill>
                <a:latin typeface="Segoe UI"/>
              </a:rPr>
              <a:t>MOS device modelling, logic, amplification and oscillation </a:t>
            </a:r>
            <a:r>
              <a:rPr lang="en-US" sz="1400" b="0" i="1" dirty="0">
                <a:solidFill>
                  <a:srgbClr val="EF9529"/>
                </a:solidFill>
                <a:latin typeface="Segoe UI"/>
              </a:rPr>
              <a:t>-</a:t>
            </a:r>
            <a:r>
              <a:rPr sz="1400" b="0" i="1" dirty="0">
                <a:solidFill>
                  <a:srgbClr val="EF9529"/>
                </a:solidFill>
                <a:latin typeface="Segoe UI"/>
              </a:rPr>
              <a:t> end-to-end on Crucible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86400"/>
            <a:ext cx="6556248" cy="644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>
                <a:latin typeface="Segoe UI"/>
              </a:rPr>
              <a:t>Six self-contained analog CMOS experiments, each combining a Python design-equation check with a SPICE simulation deck </a:t>
            </a:r>
            <a:r>
              <a:rPr lang="en-US" sz="1200" b="0" i="0" dirty="0">
                <a:latin typeface="Segoe UI"/>
              </a:rPr>
              <a:t>-</a:t>
            </a:r>
            <a:r>
              <a:rPr sz="1200" b="0" i="0" dirty="0">
                <a:latin typeface="Segoe UI"/>
              </a:rPr>
              <a:t> every step driven by the Crucible CLI (</a:t>
            </a:r>
            <a:r>
              <a:rPr sz="1200" b="0" i="0" dirty="0" err="1">
                <a:latin typeface="Segoe UI"/>
              </a:rPr>
              <a:t>igny</a:t>
            </a:r>
            <a:r>
              <a:rPr sz="1200" b="0" i="0" dirty="0">
                <a:latin typeface="Segoe UI"/>
              </a:rPr>
              <a:t>), in reproducible workspaces, with no manual EDA installation.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617356"/>
              </p:ext>
            </p:extLst>
          </p:nvPr>
        </p:nvGraphicFramePr>
        <p:xfrm>
          <a:off x="502920" y="6949440"/>
          <a:ext cx="6556247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0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8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4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3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850" b="1" i="0" spc="70">
                          <a:solidFill>
                            <a:srgbClr val="EDEDED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82296" marR="54864" marT="18288" marB="18288" anchor="ctr"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 i="0" spc="70">
                          <a:solidFill>
                            <a:srgbClr val="EDEDED"/>
                          </a:solidFill>
                          <a:latin typeface="Segoe UI"/>
                        </a:rPr>
                        <a:t>EXPERIMENT</a:t>
                      </a:r>
                    </a:p>
                  </a:txBody>
                  <a:tcPr marL="82296" marR="54864" marT="18288" marB="18288" anchor="ctr"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 i="0" spc="70">
                          <a:solidFill>
                            <a:srgbClr val="EDEDED"/>
                          </a:solidFill>
                          <a:latin typeface="Segoe UI"/>
                        </a:rPr>
                        <a:t>TOOLS (VIA igny)</a:t>
                      </a:r>
                    </a:p>
                  </a:txBody>
                  <a:tcPr marL="82296" marR="54864" marT="18288" marB="18288" anchor="ctr"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 i="0" spc="70">
                          <a:solidFill>
                            <a:srgbClr val="EDEDED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82296" marR="54864" marT="18288" marB="18288" anchor="ctr">
                    <a:solidFill>
                      <a:srgbClr val="0B0B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 b="0" i="0" dirty="0">
                          <a:solidFill>
                            <a:schemeClr val="tx1"/>
                          </a:solidFill>
                          <a:latin typeface="Segoe UI"/>
                        </a:rPr>
                        <a:t>1–6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 dirty="0">
                          <a:solidFill>
                            <a:srgbClr val="111111"/>
                          </a:solidFill>
                          <a:latin typeface="Segoe UI"/>
                        </a:rPr>
                        <a:t>MOS </a:t>
                      </a:r>
                      <a:r>
                        <a:rPr sz="900" b="0" i="0" dirty="0">
                          <a:solidFill>
                            <a:schemeClr val="tx1"/>
                          </a:solidFill>
                          <a:latin typeface="Segoe UI"/>
                        </a:rPr>
                        <a:t>modeling</a:t>
                      </a:r>
                      <a:r>
                        <a:rPr sz="900" b="0" i="0" dirty="0">
                          <a:solidFill>
                            <a:srgbClr val="111111"/>
                          </a:solidFill>
                          <a:latin typeface="Segoe UI"/>
                        </a:rPr>
                        <a:t> → logic → amplifiers → oscillator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 dirty="0" err="1">
                          <a:solidFill>
                            <a:srgbClr val="111111"/>
                          </a:solidFill>
                          <a:latin typeface="Segoe UI"/>
                        </a:rPr>
                        <a:t>ngspice</a:t>
                      </a:r>
                      <a:r>
                        <a:rPr sz="900" b="0" i="0" dirty="0">
                          <a:solidFill>
                            <a:srgbClr val="111111"/>
                          </a:solidFill>
                          <a:latin typeface="Segoe UI"/>
                        </a:rPr>
                        <a:t>, </a:t>
                      </a:r>
                      <a:r>
                        <a:rPr lang="en-US" sz="900" b="0" i="0" dirty="0">
                          <a:solidFill>
                            <a:srgbClr val="111111"/>
                          </a:solidFill>
                          <a:latin typeface="Segoe UI"/>
                        </a:rPr>
                        <a:t>P</a:t>
                      </a:r>
                      <a:r>
                        <a:rPr sz="900" b="0" i="0" dirty="0">
                          <a:solidFill>
                            <a:srgbClr val="111111"/>
                          </a:solidFill>
                          <a:latin typeface="Segoe UI"/>
                        </a:rPr>
                        <a:t>ython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 dirty="0">
                          <a:solidFill>
                            <a:srgbClr val="111111"/>
                          </a:solidFill>
                          <a:latin typeface="Segoe UI"/>
                        </a:rPr>
                        <a:t>✓ ALL PASS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996696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0040112"/>
            <a:ext cx="335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777777"/>
                </a:solidFill>
                <a:latin typeface="Segoe UI"/>
              </a:rPr>
              <a:t>Ignytion IO · ignytion.io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0040112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777777"/>
                </a:solidFill>
                <a:latin typeface="Segoe UI"/>
              </a:rPr>
              <a:t>CRUCIBLE PLATFORM SERIES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44450"/>
          </a:xfrm>
          <a:prstGeom prst="rect">
            <a:avLst/>
          </a:prstGeom>
          <a:solidFill>
            <a:srgbClr val="EF9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4383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10" dirty="0">
                <a:solidFill>
                  <a:srgbClr val="777777"/>
                </a:solidFill>
                <a:latin typeface="Segoe UI"/>
              </a:rPr>
              <a:t>ANALOG CMOS EXPERIMENTS · TECHNICAL LAB 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2000"/>
            <a:ext cx="6556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 spc="160" dirty="0">
                <a:solidFill>
                  <a:srgbClr val="EF9529"/>
                </a:solidFill>
                <a:latin typeface="Segoe U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41400"/>
            <a:ext cx="6556248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dirty="0">
                <a:solidFill>
                  <a:srgbClr val="111111"/>
                </a:solidFill>
                <a:latin typeface="Segoe UI"/>
              </a:rPr>
              <a:t>Toolchain &amp;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22120"/>
            <a:ext cx="6556248" cy="900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>
                <a:latin typeface="Segoe UI"/>
              </a:rPr>
              <a:t>Each experiment pairs a compact analytical verification flow with a SPICE deck. The Python script checks the design equations, sizing and operating-point assumptions; the SPICE deck confirms them through the Crucible-managed </a:t>
            </a:r>
            <a:r>
              <a:rPr sz="1200" b="0" i="0" dirty="0" err="1">
                <a:latin typeface="Segoe UI"/>
              </a:rPr>
              <a:t>ngspice</a:t>
            </a:r>
            <a:r>
              <a:rPr sz="1200" b="0" i="0" dirty="0">
                <a:latin typeface="Segoe UI"/>
              </a:rPr>
              <a:t> tool. Environments and workspaces are created once and bound per experiment</a:t>
            </a:r>
            <a:r>
              <a:rPr lang="en-US" sz="1200" dirty="0">
                <a:latin typeface="Segoe UI"/>
              </a:rPr>
              <a:t>. A</a:t>
            </a:r>
            <a:r>
              <a:rPr sz="1200" b="0" i="0" dirty="0">
                <a:latin typeface="Segoe UI"/>
              </a:rPr>
              <a:t>ll tool execution runs through </a:t>
            </a:r>
            <a:r>
              <a:rPr sz="1200" b="0" i="0" dirty="0" err="1">
                <a:latin typeface="Segoe UI"/>
              </a:rPr>
              <a:t>igny</a:t>
            </a:r>
            <a:r>
              <a:rPr sz="1200" b="0" i="0" dirty="0">
                <a:latin typeface="Segoe UI"/>
              </a:rPr>
              <a:t> run.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05200"/>
            <a:ext cx="6556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777777"/>
                </a:solidFill>
                <a:latin typeface="Segoe UI"/>
              </a:rPr>
              <a:t>TOOLCHAIN USED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648096"/>
              </p:ext>
            </p:extLst>
          </p:nvPr>
        </p:nvGraphicFramePr>
        <p:xfrm>
          <a:off x="502920" y="3761232"/>
          <a:ext cx="6556247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2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3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000" b="1" i="0" spc="70">
                          <a:solidFill>
                            <a:srgbClr val="EDEDED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ROLE</a:t>
                      </a:r>
                    </a:p>
                  </a:txBody>
                  <a:tcPr marL="82296" marR="54864" marT="18288" marB="18288" anchor="ctr"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spc="70">
                          <a:solidFill>
                            <a:srgbClr val="EDEDED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TOOL</a:t>
                      </a:r>
                    </a:p>
                  </a:txBody>
                  <a:tcPr marL="82296" marR="54864" marT="18288" marB="18288" anchor="ctr">
                    <a:solidFill>
                      <a:srgbClr val="0B0B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50" b="0" i="0" dirty="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Interface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dirty="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Crucible CLI</a:t>
                      </a:r>
                      <a:r>
                        <a:rPr lang="en-US" sz="1000" b="0" i="0" dirty="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by </a:t>
                      </a:r>
                      <a:r>
                        <a:rPr lang="en-US" sz="1000" b="0" i="0" dirty="0" err="1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Ignytion</a:t>
                      </a:r>
                      <a:r>
                        <a:rPr lang="en-US" sz="1000" b="0" i="0" dirty="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IO</a:t>
                      </a:r>
                      <a:endParaRPr sz="1000" b="0" i="0" dirty="0">
                        <a:solidFill>
                          <a:srgbClr val="11111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0" i="0" dirty="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Workbench</a:t>
                      </a:r>
                    </a:p>
                  </a:txBody>
                  <a:tcPr marL="82296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dirty="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Crucible, Community tier</a:t>
                      </a:r>
                    </a:p>
                  </a:txBody>
                  <a:tcPr marL="82296" marR="54864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0" i="0" dirty="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Simulator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dirty="0" err="1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N</a:t>
                      </a:r>
                      <a:r>
                        <a:rPr sz="1000" b="0" i="0" dirty="0" err="1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gspice</a:t>
                      </a:r>
                      <a:r>
                        <a:rPr sz="1000" b="0" i="0" dirty="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46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Analytical checks</a:t>
                      </a:r>
                    </a:p>
                  </a:txBody>
                  <a:tcPr marL="82296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dirty="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</a:t>
                      </a:r>
                      <a:r>
                        <a:rPr sz="1000" b="0" i="0" dirty="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ython + </a:t>
                      </a:r>
                      <a:r>
                        <a:rPr lang="en-US" sz="1000" b="0" i="0" dirty="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</a:t>
                      </a:r>
                      <a:r>
                        <a:rPr sz="1000" b="0" i="0" dirty="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atplotlib</a:t>
                      </a:r>
                    </a:p>
                  </a:txBody>
                  <a:tcPr marL="82296" marR="54864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97408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 dirty="0">
                <a:solidFill>
                  <a:srgbClr val="EF9529"/>
                </a:solidFill>
                <a:latin typeface="Segoe UI"/>
              </a:rPr>
              <a:t>CONTENTS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484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F9529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6248400"/>
            <a:ext cx="6053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11111"/>
                </a:solidFill>
                <a:latin typeface="Segoe UI"/>
              </a:rPr>
              <a:t>MOSFET Parameter Extraction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77584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705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F9529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705600"/>
            <a:ext cx="6053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11111"/>
                </a:solidFill>
                <a:latin typeface="Segoe UI"/>
              </a:rPr>
              <a:t>Short-Channel nMOSFET Bias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7034783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7162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F9529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7162800"/>
            <a:ext cx="6053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11111"/>
                </a:solidFill>
                <a:latin typeface="Segoe UI"/>
              </a:rPr>
              <a:t>CMOS &amp; Pseudo-nMOS NAND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7491983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76200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F9529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7620000"/>
            <a:ext cx="6053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11111"/>
                </a:solidFill>
                <a:latin typeface="Segoe UI"/>
              </a:rPr>
              <a:t>Common-Source Amplifier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7949183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80772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F9529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8077200"/>
            <a:ext cx="6053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11111"/>
                </a:solidFill>
                <a:latin typeface="Segoe UI"/>
              </a:rPr>
              <a:t>CMOS Differential Amplifier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8406383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85344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F9529"/>
                </a:solidFill>
                <a:latin typeface="Segoe U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8534400"/>
            <a:ext cx="6053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11111"/>
                </a:solidFill>
                <a:latin typeface="Segoe UI"/>
              </a:rPr>
              <a:t>Op-Amp Square-Wave Generator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8863584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1019556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10259568"/>
            <a:ext cx="215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© 2026 Ignytion IO · ignytion.io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102595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July 2026 · Version 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10259568"/>
            <a:ext cx="2029968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 dirty="0">
                <a:solidFill>
                  <a:srgbClr val="777777"/>
                </a:solidFill>
                <a:latin typeface="Segoe UI"/>
              </a:rPr>
              <a:t>02 / 1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6</a:t>
            </a:r>
            <a:endParaRPr sz="750" b="0" i="0" dirty="0">
              <a:solidFill>
                <a:srgbClr val="777777"/>
              </a:solidFill>
              <a:latin typeface="Segoe UI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9EA987-58AB-EF76-F394-55E9FAFC8D5A}"/>
              </a:ext>
            </a:extLst>
          </p:cNvPr>
          <p:cNvSpPr/>
          <p:nvPr/>
        </p:nvSpPr>
        <p:spPr>
          <a:xfrm>
            <a:off x="502919" y="60960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Image 0" descr="preencoded.png">
            <a:extLst>
              <a:ext uri="{FF2B5EF4-FFF2-40B4-BE49-F238E27FC236}">
                <a16:creationId xmlns:a16="http://schemas.microsoft.com/office/drawing/2014/main" id="{873C6409-68DF-789D-F2AA-4AC661751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820" y="221896"/>
            <a:ext cx="165625" cy="209551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5EA92452-D0D3-351E-CF8A-880FD5F311F9}"/>
              </a:ext>
            </a:extLst>
          </p:cNvPr>
          <p:cNvSpPr/>
          <p:nvPr/>
        </p:nvSpPr>
        <p:spPr>
          <a:xfrm>
            <a:off x="6571624" y="275235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44450"/>
          </a:xfrm>
          <a:prstGeom prst="rect">
            <a:avLst/>
          </a:prstGeom>
          <a:solidFill>
            <a:srgbClr val="EF9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651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10" dirty="0">
                <a:solidFill>
                  <a:srgbClr val="777777"/>
                </a:solidFill>
                <a:latin typeface="Segoe UI"/>
              </a:rPr>
              <a:t>ANALOG CMOS EXPERIMENTS · TECHNICAL LAB 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2000"/>
            <a:ext cx="6556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 spc="160">
                <a:solidFill>
                  <a:srgbClr val="EF9529"/>
                </a:solidFill>
                <a:latin typeface="Segoe UI"/>
              </a:rP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41400"/>
            <a:ext cx="6556248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111111"/>
                </a:solidFill>
                <a:latin typeface="Segoe UI"/>
              </a:rPr>
              <a:t>Crucible Workspace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22120"/>
            <a:ext cx="6556248" cy="422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>
                <a:latin typeface="Segoe UI"/>
              </a:rPr>
              <a:t>One environment for the whole lab. Create it once, install the tools once, then bind each experiment to a workspace. Every command below runs through </a:t>
            </a:r>
            <a:r>
              <a:rPr sz="1200" b="0" i="0" dirty="0" err="1">
                <a:latin typeface="Segoe UI"/>
              </a:rPr>
              <a:t>igny</a:t>
            </a:r>
            <a:r>
              <a:rPr sz="1200" b="0" i="0" dirty="0"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7368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 dirty="0">
                <a:solidFill>
                  <a:srgbClr val="EF9529"/>
                </a:solidFill>
                <a:latin typeface="Segoe UI"/>
              </a:rPr>
              <a:t>SETUP COMMAND PATTERN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11424"/>
            <a:ext cx="6556248" cy="236220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9A9AA0"/>
                </a:solidFill>
                <a:latin typeface="Consolas"/>
              </a:rPr>
              <a:t># launch Crucible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init</a:t>
            </a: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9A9AA0"/>
                </a:solidFill>
                <a:latin typeface="Consolas"/>
              </a:rPr>
              <a:t># one-time environment + tools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env create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analog_experiments</a:t>
            </a: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</a:t>
            </a:r>
            <a:r>
              <a:rPr lang="en-US" sz="900" dirty="0">
                <a:solidFill>
                  <a:srgbClr val="EF9529"/>
                </a:solidFill>
                <a:latin typeface="Consolas"/>
              </a:rPr>
              <a:t>workspace create --path </a:t>
            </a:r>
            <a:r>
              <a:rPr lang="en-US" sz="900" dirty="0" err="1">
                <a:solidFill>
                  <a:srgbClr val="EF9529"/>
                </a:solidFill>
                <a:latin typeface="Consolas"/>
              </a:rPr>
              <a:t>analog_demo</a:t>
            </a:r>
            <a:r>
              <a:rPr lang="en-US" sz="900" dirty="0">
                <a:solidFill>
                  <a:srgbClr val="EF9529"/>
                </a:solidFill>
                <a:latin typeface="Consolas"/>
              </a:rPr>
              <a:t> --env </a:t>
            </a:r>
            <a:r>
              <a:rPr lang="en-US" sz="900" dirty="0" err="1">
                <a:solidFill>
                  <a:srgbClr val="EF9529"/>
                </a:solidFill>
                <a:latin typeface="Consolas"/>
              </a:rPr>
              <a:t>analog_experiments</a:t>
            </a:r>
            <a:endParaRPr lang="en-US" sz="90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lang="en-US" sz="900" dirty="0">
                <a:solidFill>
                  <a:srgbClr val="EF9529"/>
                </a:solidFill>
                <a:latin typeface="Consolas"/>
              </a:rPr>
              <a:t>c</a:t>
            </a:r>
            <a:r>
              <a:rPr lang="en-US" sz="900" b="0" i="0" dirty="0">
                <a:solidFill>
                  <a:srgbClr val="EF9529"/>
                </a:solidFill>
                <a:latin typeface="Consolas"/>
              </a:rPr>
              <a:t>d </a:t>
            </a:r>
            <a:r>
              <a:rPr lang="en-US" sz="900" b="0" i="0" dirty="0" err="1">
                <a:solidFill>
                  <a:srgbClr val="EF9529"/>
                </a:solidFill>
                <a:latin typeface="Consolas"/>
              </a:rPr>
              <a:t>analog_demo</a:t>
            </a: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tool install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ngspice</a:t>
            </a: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tool install matplotlib</a:t>
            </a: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9A9AA0"/>
                </a:solidFill>
                <a:latin typeface="Consolas"/>
              </a:rPr>
              <a:t># per experiment (run from its folder)</a:t>
            </a: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90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lang="en-US" sz="900" dirty="0">
                <a:solidFill>
                  <a:srgbClr val="EF9529"/>
                </a:solidFill>
                <a:latin typeface="Consolas"/>
              </a:rPr>
              <a:t> run script .\scripts\run_analysis.py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ngspice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</a:t>
            </a:r>
            <a:r>
              <a:rPr lang="en-US" sz="900" b="0" i="0" dirty="0">
                <a:solidFill>
                  <a:srgbClr val="EF9529"/>
                </a:solidFill>
                <a:latin typeface="Consolas"/>
              </a:rPr>
              <a:t>–b 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-o build/spice.log spice/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design.cir</a:t>
            </a: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lang="en-US" sz="900" dirty="0">
                <a:solidFill>
                  <a:srgbClr val="EF9529"/>
                </a:solidFill>
                <a:latin typeface="Consolas"/>
              </a:rPr>
              <a:t>type .\build\spice.log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sz="900" b="0" i="0" dirty="0">
              <a:solidFill>
                <a:srgbClr val="EF9529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6838950"/>
            <a:ext cx="6556248" cy="21945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5301" y="7139302"/>
            <a:ext cx="45719" cy="1626882"/>
          </a:xfrm>
          <a:prstGeom prst="rect">
            <a:avLst/>
          </a:prstGeom>
          <a:solidFill>
            <a:srgbClr val="EF9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7021830"/>
            <a:ext cx="61904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11111"/>
                </a:solidFill>
                <a:latin typeface="Segoe UI"/>
              </a:rPr>
              <a:t>How the two checks differ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7433309"/>
            <a:ext cx="6190488" cy="1073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Segoe UI"/>
              </a:rPr>
              <a:t>• The Python script is the analytical check</a:t>
            </a:r>
            <a:r>
              <a:rPr lang="en-US" sz="1100" b="0" i="0" dirty="0">
                <a:latin typeface="Segoe UI"/>
              </a:rPr>
              <a:t>,</a:t>
            </a:r>
            <a:r>
              <a:rPr sz="1100" b="0" i="0" dirty="0">
                <a:latin typeface="Segoe UI"/>
              </a:rPr>
              <a:t> it verifies the design equations and prints a PASS line, independent of the simulator.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endParaRPr sz="1100" b="0" i="0" dirty="0">
              <a:latin typeface="Segoe U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Segoe UI"/>
              </a:rPr>
              <a:t>• The SPICE deck is the simulator-backed check. Use -b (batch) for DC operating-point decks; drop -b only when a transient waveform should open in the </a:t>
            </a:r>
            <a:r>
              <a:rPr sz="1100" b="0" i="0" dirty="0" err="1">
                <a:latin typeface="Segoe UI"/>
              </a:rPr>
              <a:t>ngspice</a:t>
            </a:r>
            <a:r>
              <a:rPr sz="1100" b="0" i="0" dirty="0">
                <a:latin typeface="Segoe UI"/>
              </a:rPr>
              <a:t> GUI (Experiment 6).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019556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0259568"/>
            <a:ext cx="215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© 2026 Ignytion IO · ignytion.io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02595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July 2026 · Version 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0259568"/>
            <a:ext cx="2029968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 dirty="0">
                <a:solidFill>
                  <a:srgbClr val="777777"/>
                </a:solidFill>
                <a:latin typeface="Segoe UI"/>
              </a:rPr>
              <a:t>03 / 1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6</a:t>
            </a:r>
            <a:endParaRPr sz="750" b="0" i="0" dirty="0">
              <a:solidFill>
                <a:srgbClr val="777777"/>
              </a:solidFill>
              <a:latin typeface="Segoe U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24DCF7-FD15-D662-A0A0-03D510DA8480}"/>
              </a:ext>
            </a:extLst>
          </p:cNvPr>
          <p:cNvSpPr/>
          <p:nvPr/>
        </p:nvSpPr>
        <p:spPr>
          <a:xfrm>
            <a:off x="502919" y="60960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814D7193-5082-7272-3398-CCFE025CC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820" y="221896"/>
            <a:ext cx="165625" cy="209551"/>
          </a:xfrm>
          <a:prstGeom prst="rect">
            <a:avLst/>
          </a:prstGeom>
        </p:spPr>
      </p:pic>
      <p:sp>
        <p:nvSpPr>
          <p:cNvPr id="31" name="Text 3">
            <a:extLst>
              <a:ext uri="{FF2B5EF4-FFF2-40B4-BE49-F238E27FC236}">
                <a16:creationId xmlns:a16="http://schemas.microsoft.com/office/drawing/2014/main" id="{03CBEED4-4644-8E51-C65B-9D9A6021C264}"/>
              </a:ext>
            </a:extLst>
          </p:cNvPr>
          <p:cNvSpPr/>
          <p:nvPr/>
        </p:nvSpPr>
        <p:spPr>
          <a:xfrm>
            <a:off x="6571624" y="275235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002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44450"/>
          </a:xfrm>
          <a:prstGeom prst="rect">
            <a:avLst/>
          </a:prstGeom>
          <a:solidFill>
            <a:srgbClr val="EF9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651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10" dirty="0">
                <a:solidFill>
                  <a:srgbClr val="777777"/>
                </a:solidFill>
                <a:latin typeface="Segoe UI"/>
              </a:rPr>
              <a:t>EXPERIMENT 1 · MOSFET PARAMETER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2000"/>
            <a:ext cx="6556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 spc="160" dirty="0">
                <a:solidFill>
                  <a:srgbClr val="EF9529"/>
                </a:solidFill>
                <a:latin typeface="Segoe UI"/>
              </a:rPr>
              <a:t>EXPERIMENT 01 · DEVICE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41400"/>
            <a:ext cx="6556248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dirty="0">
                <a:solidFill>
                  <a:srgbClr val="111111"/>
                </a:solidFill>
                <a:latin typeface="Segoe UI"/>
              </a:rPr>
              <a:t>MOSFET Parameter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2212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 dirty="0">
                <a:solidFill>
                  <a:srgbClr val="EF9529"/>
                </a:solidFill>
                <a:latin typeface="Segoe UI"/>
              </a:rPr>
              <a:t>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50720"/>
            <a:ext cx="6556248" cy="375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Segoe UI"/>
              </a:rPr>
              <a:t>Calculate representative MOSFET parameters </a:t>
            </a:r>
            <a:r>
              <a:rPr lang="en-US" sz="1100" b="0" i="0" dirty="0">
                <a:latin typeface="Segoe UI"/>
              </a:rPr>
              <a:t>-</a:t>
            </a:r>
            <a:r>
              <a:rPr sz="1100" b="0" i="0" dirty="0">
                <a:latin typeface="Segoe UI"/>
              </a:rPr>
              <a:t> oxide capacitance, mobility-derived process gain, transconductance, output resistance and threshold voltages </a:t>
            </a:r>
            <a:r>
              <a:rPr lang="en-US" sz="1100" b="0" i="0" dirty="0">
                <a:latin typeface="Segoe UI"/>
              </a:rPr>
              <a:t>-</a:t>
            </a:r>
            <a:r>
              <a:rPr sz="1100" b="0" i="0" dirty="0">
                <a:latin typeface="Segoe UI"/>
              </a:rPr>
              <a:t> for a first-order MOS process.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940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 dirty="0">
                <a:solidFill>
                  <a:srgbClr val="EF9529"/>
                </a:solidFill>
                <a:latin typeface="Segoe UI"/>
              </a:rPr>
              <a:t>THEORY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48000"/>
            <a:ext cx="6556248" cy="798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dirty="0">
                <a:latin typeface="Segoe UI"/>
              </a:rPr>
              <a:t>Oxide capacitance per unit area is set by oxide permittivity and thickness. Mobility, oxide capacitance and geometry fix the process-gain terms used in first-order MOS design.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dirty="0">
                <a:latin typeface="Segoe UI"/>
              </a:rPr>
              <a:t>With a chosen overdrive, the flow estimates drain current, transconductance and output resistance, and confirms the parameters are positive and internally consistent.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8243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DESIGN RELATION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11040"/>
            <a:ext cx="3186684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 dirty="0">
                <a:solidFill>
                  <a:srgbClr val="111111"/>
                </a:solidFill>
                <a:latin typeface="Consolas"/>
              </a:rPr>
              <a:t>Cox = </a:t>
            </a:r>
            <a:r>
              <a:rPr sz="1000" b="1" i="0" dirty="0" err="1">
                <a:solidFill>
                  <a:srgbClr val="111111"/>
                </a:solidFill>
                <a:latin typeface="Consolas"/>
              </a:rPr>
              <a:t>εox</a:t>
            </a:r>
            <a:r>
              <a:rPr sz="1000" b="1" i="0" dirty="0">
                <a:solidFill>
                  <a:srgbClr val="111111"/>
                </a:solidFill>
                <a:latin typeface="Consolas"/>
              </a:rPr>
              <a:t> / tox    </a:t>
            </a:r>
            <a:endParaRPr lang="en-US" sz="1000" b="1" i="0" dirty="0">
              <a:solidFill>
                <a:srgbClr val="111111"/>
              </a:solidFill>
              <a:latin typeface="Consolas"/>
            </a:endParaRPr>
          </a:p>
          <a:p>
            <a:pPr algn="ctr"/>
            <a:r>
              <a:rPr sz="1000" b="1" i="0" dirty="0" err="1">
                <a:solidFill>
                  <a:srgbClr val="111111"/>
                </a:solidFill>
                <a:latin typeface="Consolas"/>
              </a:rPr>
              <a:t>kn</a:t>
            </a:r>
            <a:r>
              <a:rPr sz="1000" b="1" i="0" dirty="0">
                <a:solidFill>
                  <a:srgbClr val="111111"/>
                </a:solidFill>
                <a:latin typeface="Consolas"/>
              </a:rPr>
              <a:t> = </a:t>
            </a:r>
            <a:r>
              <a:rPr sz="1000" b="1" i="0" dirty="0" err="1">
                <a:solidFill>
                  <a:srgbClr val="111111"/>
                </a:solidFill>
                <a:latin typeface="Consolas"/>
              </a:rPr>
              <a:t>μn·Cox</a:t>
            </a:r>
            <a:r>
              <a:rPr sz="1000" b="1" i="0" dirty="0">
                <a:solidFill>
                  <a:srgbClr val="111111"/>
                </a:solidFill>
                <a:latin typeface="Consolas"/>
              </a:rPr>
              <a:t>·(W/L)    </a:t>
            </a:r>
            <a:endParaRPr lang="en-US" sz="1000" b="1" i="0" dirty="0">
              <a:solidFill>
                <a:srgbClr val="111111"/>
              </a:solidFill>
              <a:latin typeface="Consolas"/>
            </a:endParaRPr>
          </a:p>
          <a:p>
            <a:pPr algn="ctr"/>
            <a:r>
              <a:rPr sz="1000" b="1" i="0" dirty="0" err="1">
                <a:solidFill>
                  <a:srgbClr val="111111"/>
                </a:solidFill>
                <a:latin typeface="Consolas"/>
              </a:rPr>
              <a:t>kp</a:t>
            </a:r>
            <a:r>
              <a:rPr sz="1000" b="1" i="0" dirty="0">
                <a:solidFill>
                  <a:srgbClr val="111111"/>
                </a:solidFill>
                <a:latin typeface="Consolas"/>
              </a:rPr>
              <a:t> = </a:t>
            </a:r>
            <a:r>
              <a:rPr sz="1000" b="1" i="0" dirty="0" err="1">
                <a:solidFill>
                  <a:srgbClr val="111111"/>
                </a:solidFill>
                <a:latin typeface="Consolas"/>
              </a:rPr>
              <a:t>μp·Cox</a:t>
            </a:r>
            <a:r>
              <a:rPr sz="1000" b="1" i="0" dirty="0">
                <a:solidFill>
                  <a:srgbClr val="111111"/>
                </a:solidFill>
                <a:latin typeface="Consolas"/>
              </a:rPr>
              <a:t>·(W/L)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2484" y="428243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APPARATUS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2484" y="4511040"/>
            <a:ext cx="3186684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ctr">
              <a:spcAft>
                <a:spcPts val="200"/>
              </a:spcAft>
            </a:pPr>
            <a:r>
              <a:rPr sz="1000" b="0" i="0" dirty="0">
                <a:solidFill>
                  <a:srgbClr val="444444"/>
                </a:solidFill>
                <a:latin typeface="Consolas"/>
              </a:rPr>
              <a:t>run_analysis.py  </a:t>
            </a:r>
            <a:endParaRPr lang="en-US" sz="1000" b="0" i="0" dirty="0">
              <a:solidFill>
                <a:srgbClr val="444444"/>
              </a:solidFill>
              <a:latin typeface="Consolas"/>
            </a:endParaRPr>
          </a:p>
          <a:p>
            <a:pPr algn="ctr">
              <a:spcAft>
                <a:spcPts val="200"/>
              </a:spcAft>
            </a:pPr>
            <a:r>
              <a:rPr sz="1000" b="0" i="0" dirty="0" err="1">
                <a:solidFill>
                  <a:srgbClr val="444444"/>
                </a:solidFill>
                <a:latin typeface="Consolas"/>
              </a:rPr>
              <a:t>design.cir</a:t>
            </a:r>
            <a:endParaRPr sz="1000" b="0" i="0" dirty="0">
              <a:solidFill>
                <a:srgbClr val="444444"/>
              </a:solidFill>
              <a:latin typeface="Consolas"/>
            </a:endParaRPr>
          </a:p>
          <a:p>
            <a:pPr algn="ctr">
              <a:spcAft>
                <a:spcPts val="200"/>
              </a:spcAft>
            </a:pPr>
            <a:r>
              <a:rPr sz="1000" b="0" i="0" dirty="0" err="1">
                <a:solidFill>
                  <a:srgbClr val="444444"/>
                </a:solidFill>
                <a:latin typeface="Consolas"/>
              </a:rPr>
              <a:t>ngspice</a:t>
            </a:r>
            <a:endParaRPr sz="1000" b="0" i="0" dirty="0">
              <a:solidFill>
                <a:srgbClr val="444444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537972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PROCEDURE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17464"/>
            <a:ext cx="6556248" cy="102870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9A9AA0"/>
                </a:solidFill>
                <a:latin typeface="Consolas"/>
              </a:rPr>
              <a:t>cd </a:t>
            </a:r>
            <a:r>
              <a:rPr sz="850" b="0" i="0" dirty="0" err="1">
                <a:solidFill>
                  <a:srgbClr val="9A9AA0"/>
                </a:solidFill>
                <a:latin typeface="Consolas"/>
              </a:rPr>
              <a:t>experiment_folder</a:t>
            </a:r>
            <a:endParaRPr sz="850" b="0" i="0" dirty="0">
              <a:solidFill>
                <a:srgbClr val="9A9AA0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workspace create --env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analog_experiments</a:t>
            </a: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script run_analysis.py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ngspice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-b -o build/spice.log spice/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design.cir</a:t>
            </a: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900" b="0" i="0" dirty="0">
                <a:solidFill>
                  <a:srgbClr val="EF9529"/>
                </a:solidFill>
                <a:latin typeface="Consolas"/>
              </a:rPr>
              <a:t>type .\build\spice.log</a:t>
            </a:r>
            <a:endParaRPr sz="900" b="0" i="0" dirty="0">
              <a:solidFill>
                <a:srgbClr val="EF9529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76655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ANALYTICAL VERIFICATION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6989064"/>
            <a:ext cx="3186684" cy="123444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>
                <a:solidFill>
                  <a:srgbClr val="EF9529"/>
                </a:solidFill>
                <a:latin typeface="Consolas"/>
              </a:rPr>
              <a:t>$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script </a:t>
            </a:r>
            <a:r>
              <a:rPr lang="en-US" sz="900" b="0" i="0" dirty="0">
                <a:solidFill>
                  <a:srgbClr val="EF9529"/>
                </a:solidFill>
                <a:latin typeface="Consolas"/>
              </a:rPr>
              <a:t>.\scripts\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run_analysis.py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Cox=7.458e-03 F/m^2 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kn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=3.356e-04 A/V^2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 err="1">
                <a:solidFill>
                  <a:srgbClr val="EDEDED"/>
                </a:solidFill>
                <a:latin typeface="Consolas"/>
              </a:rPr>
              <a:t>kp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=1.193e-04 A/V^2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PASS 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mosfet_parameter_extraction</a:t>
            </a:r>
            <a:endParaRPr sz="850" b="0" i="0" dirty="0">
              <a:solidFill>
                <a:srgbClr val="EDEDED"/>
              </a:solidFill>
              <a:latin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72484" y="676655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SPICE 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72484" y="6989064"/>
            <a:ext cx="3186684" cy="123444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>
                <a:solidFill>
                  <a:srgbClr val="EF9529"/>
                </a:solidFill>
                <a:latin typeface="Consolas"/>
              </a:rPr>
              <a:t>$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ngspice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-b -o build/spice.log spice/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design.cir</a:t>
            </a: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v(dn) = 1.560617e+00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v(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dp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) = 8.539634e-02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Tool '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ngspice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' completed successfully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1019556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10259568"/>
            <a:ext cx="215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© 2026 Ignytion IO · ignytion.io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102595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July 2026 · Version 1.0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10259568"/>
            <a:ext cx="2029968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 dirty="0">
                <a:solidFill>
                  <a:srgbClr val="777777"/>
                </a:solidFill>
                <a:latin typeface="Segoe UI"/>
              </a:rPr>
              <a:t>04 / 1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6</a:t>
            </a:r>
            <a:endParaRPr sz="750" b="0" i="0" dirty="0">
              <a:solidFill>
                <a:srgbClr val="777777"/>
              </a:solidFill>
              <a:latin typeface="Segoe U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55451D6-80C9-D7C7-DB89-290ACDBE40C5}"/>
              </a:ext>
            </a:extLst>
          </p:cNvPr>
          <p:cNvSpPr/>
          <p:nvPr/>
        </p:nvSpPr>
        <p:spPr>
          <a:xfrm>
            <a:off x="502919" y="60960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D2847CF1-BCC3-D8C4-A84E-30E9ACFD2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820" y="221896"/>
            <a:ext cx="165625" cy="209551"/>
          </a:xfrm>
          <a:prstGeom prst="rect">
            <a:avLst/>
          </a:prstGeom>
        </p:spPr>
      </p:pic>
      <p:sp>
        <p:nvSpPr>
          <p:cNvPr id="37" name="Text 3">
            <a:extLst>
              <a:ext uri="{FF2B5EF4-FFF2-40B4-BE49-F238E27FC236}">
                <a16:creationId xmlns:a16="http://schemas.microsoft.com/office/drawing/2014/main" id="{F4EF2583-243F-4253-6F63-99966D4FA0F8}"/>
              </a:ext>
            </a:extLst>
          </p:cNvPr>
          <p:cNvSpPr/>
          <p:nvPr/>
        </p:nvSpPr>
        <p:spPr>
          <a:xfrm>
            <a:off x="6571624" y="275235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403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7F31C12-0B60-545A-29C4-19469CA56D3B}"/>
              </a:ext>
            </a:extLst>
          </p:cNvPr>
          <p:cNvSpPr/>
          <p:nvPr/>
        </p:nvSpPr>
        <p:spPr>
          <a:xfrm>
            <a:off x="0" y="0"/>
            <a:ext cx="7562088" cy="44450"/>
          </a:xfrm>
          <a:prstGeom prst="rect">
            <a:avLst/>
          </a:prstGeom>
          <a:solidFill>
            <a:srgbClr val="EF9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CF7666-C6C0-104E-2802-9CC6552E2834}"/>
              </a:ext>
            </a:extLst>
          </p:cNvPr>
          <p:cNvSpPr txBox="1"/>
          <p:nvPr/>
        </p:nvSpPr>
        <p:spPr>
          <a:xfrm>
            <a:off x="502920" y="28647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10" dirty="0">
                <a:solidFill>
                  <a:srgbClr val="777777"/>
                </a:solidFill>
                <a:latin typeface="Segoe UI"/>
              </a:rPr>
              <a:t>EXPERIMENT 1 · MOSFET PARAMETER EXTRACTION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33817-ABC4-1865-75A5-0D5D644F7D90}"/>
              </a:ext>
            </a:extLst>
          </p:cNvPr>
          <p:cNvSpPr txBox="1"/>
          <p:nvPr/>
        </p:nvSpPr>
        <p:spPr>
          <a:xfrm>
            <a:off x="502920" y="762000"/>
            <a:ext cx="6556248" cy="148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 spc="160" dirty="0">
                <a:solidFill>
                  <a:srgbClr val="EF9529"/>
                </a:solidFill>
                <a:latin typeface="Segoe UI"/>
              </a:rPr>
              <a:t>EXPERIMENT 01 ·</a:t>
            </a:r>
            <a:r>
              <a:rPr lang="en-US" sz="950" b="1" i="0" spc="160" dirty="0">
                <a:solidFill>
                  <a:srgbClr val="EF9529"/>
                </a:solidFill>
                <a:latin typeface="Segoe UI"/>
              </a:rPr>
              <a:t> (contd.)</a:t>
            </a:r>
            <a:endParaRPr sz="950" b="1" i="0" spc="160" dirty="0">
              <a:solidFill>
                <a:srgbClr val="EF9529"/>
              </a:solidFill>
              <a:latin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7C4044-4741-5622-602B-8D47DCCEC658}"/>
              </a:ext>
            </a:extLst>
          </p:cNvPr>
          <p:cNvSpPr/>
          <p:nvPr/>
        </p:nvSpPr>
        <p:spPr>
          <a:xfrm>
            <a:off x="502920" y="1019556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ABB666-40A1-AF11-F69E-78ECC86675B0}"/>
              </a:ext>
            </a:extLst>
          </p:cNvPr>
          <p:cNvSpPr txBox="1"/>
          <p:nvPr/>
        </p:nvSpPr>
        <p:spPr>
          <a:xfrm>
            <a:off x="502920" y="10259568"/>
            <a:ext cx="215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© 2026 Ignytion IO · ignytion.io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7ED093-D936-FDCA-E02D-4E696946B197}"/>
              </a:ext>
            </a:extLst>
          </p:cNvPr>
          <p:cNvSpPr txBox="1"/>
          <p:nvPr/>
        </p:nvSpPr>
        <p:spPr>
          <a:xfrm>
            <a:off x="2743200" y="102595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July 2026 · Version 1.0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98E888-9B1A-B9C9-0F8B-50B31A2CFCAF}"/>
              </a:ext>
            </a:extLst>
          </p:cNvPr>
          <p:cNvSpPr txBox="1"/>
          <p:nvPr/>
        </p:nvSpPr>
        <p:spPr>
          <a:xfrm>
            <a:off x="5029200" y="10259568"/>
            <a:ext cx="2029968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 dirty="0">
                <a:solidFill>
                  <a:srgbClr val="777777"/>
                </a:solidFill>
                <a:latin typeface="Segoe UI"/>
              </a:rPr>
              <a:t>0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5</a:t>
            </a:r>
            <a:r>
              <a:rPr sz="750" b="0" i="0" dirty="0">
                <a:solidFill>
                  <a:srgbClr val="777777"/>
                </a:solidFill>
                <a:latin typeface="Segoe UI"/>
              </a:rPr>
              <a:t> / 1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6</a:t>
            </a:r>
            <a:endParaRPr sz="750" b="0" i="0" dirty="0">
              <a:solidFill>
                <a:srgbClr val="777777"/>
              </a:solidFill>
              <a:latin typeface="Segoe U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DB43AE-6714-BBA6-05CF-FADA7AEBC671}"/>
              </a:ext>
            </a:extLst>
          </p:cNvPr>
          <p:cNvSpPr txBox="1"/>
          <p:nvPr/>
        </p:nvSpPr>
        <p:spPr>
          <a:xfrm>
            <a:off x="528042" y="3898772"/>
            <a:ext cx="6531126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 dirty="0">
                <a:solidFill>
                  <a:srgbClr val="EF9529"/>
                </a:solidFill>
                <a:latin typeface="Segoe UI"/>
              </a:rPr>
              <a:t>RESULT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3D3F44-74A0-7CE0-27C3-C1F59B438CC9}"/>
              </a:ext>
            </a:extLst>
          </p:cNvPr>
          <p:cNvSpPr txBox="1"/>
          <p:nvPr/>
        </p:nvSpPr>
        <p:spPr>
          <a:xfrm>
            <a:off x="528042" y="4218812"/>
            <a:ext cx="6531126" cy="34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Segoe UI"/>
              </a:rPr>
              <a:t>The extraction flow completes cleanly. Oxide capacitance and process-gain values are valid, and the SPICE operating point confirms the NMOS and PMOS models bias correctly.</a:t>
            </a: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1E5B999A-34F7-A4BF-4AAE-5483B5DFD47C}"/>
              </a:ext>
            </a:extLst>
          </p:cNvPr>
          <p:cNvSpPr/>
          <p:nvPr/>
        </p:nvSpPr>
        <p:spPr>
          <a:xfrm>
            <a:off x="502920" y="4891200"/>
            <a:ext cx="6556248" cy="577850"/>
          </a:xfrm>
          <a:prstGeom prst="roundRect">
            <a:avLst>
              <a:gd name="adj" fmla="val 12000"/>
            </a:avLst>
          </a:prstGeom>
          <a:solidFill>
            <a:srgbClr val="FBF3E7"/>
          </a:solidFill>
          <a:ln w="12700">
            <a:solidFill>
              <a:srgbClr val="EF9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8671C6-7085-3C5A-B937-8951CE7C156C}"/>
              </a:ext>
            </a:extLst>
          </p:cNvPr>
          <p:cNvSpPr txBox="1"/>
          <p:nvPr/>
        </p:nvSpPr>
        <p:spPr>
          <a:xfrm>
            <a:off x="612648" y="4910250"/>
            <a:ext cx="38735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EF9529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04BF72-9070-F236-B947-E523D88BAD09}"/>
              </a:ext>
            </a:extLst>
          </p:cNvPr>
          <p:cNvSpPr txBox="1"/>
          <p:nvPr/>
        </p:nvSpPr>
        <p:spPr>
          <a:xfrm>
            <a:off x="1005840" y="4948350"/>
            <a:ext cx="5916168" cy="179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 dirty="0">
                <a:solidFill>
                  <a:srgbClr val="111111"/>
                </a:solidFill>
                <a:latin typeface="Segoe UI"/>
              </a:rPr>
              <a:t>Experiment 1 </a:t>
            </a:r>
            <a:r>
              <a:rPr lang="en-US" sz="1150" b="1" i="0" dirty="0">
                <a:solidFill>
                  <a:srgbClr val="111111"/>
                </a:solidFill>
                <a:latin typeface="Segoe UI"/>
              </a:rPr>
              <a:t>-</a:t>
            </a:r>
            <a:r>
              <a:rPr sz="1150" b="1" i="0" dirty="0">
                <a:solidFill>
                  <a:srgbClr val="111111"/>
                </a:solidFill>
                <a:latin typeface="Segoe UI"/>
              </a:rPr>
              <a:t> PASS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635CB3-6B7A-9024-A447-DF8CE3B7D00D}"/>
              </a:ext>
            </a:extLst>
          </p:cNvPr>
          <p:cNvSpPr txBox="1"/>
          <p:nvPr/>
        </p:nvSpPr>
        <p:spPr>
          <a:xfrm>
            <a:off x="1005840" y="5183300"/>
            <a:ext cx="5916168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 dirty="0">
                <a:solidFill>
                  <a:srgbClr val="444444"/>
                </a:solidFill>
                <a:latin typeface="Segoe UI"/>
              </a:rPr>
              <a:t>Key result: Cox=7.458e-03 F/m², </a:t>
            </a:r>
            <a:r>
              <a:rPr sz="950" b="0" i="0" dirty="0" err="1">
                <a:solidFill>
                  <a:srgbClr val="444444"/>
                </a:solidFill>
                <a:latin typeface="Segoe UI"/>
              </a:rPr>
              <a:t>kn</a:t>
            </a:r>
            <a:r>
              <a:rPr sz="950" b="0" i="0" dirty="0">
                <a:solidFill>
                  <a:srgbClr val="444444"/>
                </a:solidFill>
                <a:latin typeface="Segoe UI"/>
              </a:rPr>
              <a:t>=3.356e-04 A/V².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75643B-F1A6-68E5-33F0-8F70B7D95120}"/>
              </a:ext>
            </a:extLst>
          </p:cNvPr>
          <p:cNvSpPr/>
          <p:nvPr/>
        </p:nvSpPr>
        <p:spPr>
          <a:xfrm>
            <a:off x="502919" y="60960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27604749-5430-9F4F-281F-9B53BA198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820" y="221896"/>
            <a:ext cx="165625" cy="209551"/>
          </a:xfrm>
          <a:prstGeom prst="rect">
            <a:avLst/>
          </a:prstGeom>
        </p:spPr>
      </p:pic>
      <p:sp>
        <p:nvSpPr>
          <p:cNvPr id="39" name="Text 3">
            <a:extLst>
              <a:ext uri="{FF2B5EF4-FFF2-40B4-BE49-F238E27FC236}">
                <a16:creationId xmlns:a16="http://schemas.microsoft.com/office/drawing/2014/main" id="{91394007-43A1-9BCE-7073-22993A8B733E}"/>
              </a:ext>
            </a:extLst>
          </p:cNvPr>
          <p:cNvSpPr/>
          <p:nvPr/>
        </p:nvSpPr>
        <p:spPr>
          <a:xfrm>
            <a:off x="6571624" y="275235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32EC2D-7045-6FE5-9385-47177427CD1F}"/>
              </a:ext>
            </a:extLst>
          </p:cNvPr>
          <p:cNvSpPr txBox="1"/>
          <p:nvPr/>
        </p:nvSpPr>
        <p:spPr>
          <a:xfrm>
            <a:off x="502918" y="104140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850" b="1" i="0" spc="110" dirty="0">
                <a:solidFill>
                  <a:srgbClr val="EF9529"/>
                </a:solidFill>
                <a:latin typeface="Segoe UI"/>
              </a:rPr>
              <a:t>CRUCIBLE EXECUTION</a:t>
            </a:r>
            <a:endParaRPr sz="850" b="1" i="0" spc="110" dirty="0">
              <a:solidFill>
                <a:srgbClr val="EF9529"/>
              </a:solidFill>
              <a:latin typeface="Segoe UI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7C9250D7-FD7A-577C-465E-EF3DB5D99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4226"/>
            <a:ext cx="6693283" cy="2229643"/>
          </a:xfrm>
          <a:prstGeom prst="roundRect">
            <a:avLst>
              <a:gd name="adj" fmla="val 4000"/>
            </a:avLst>
          </a:prstGeom>
          <a:ln w="9525">
            <a:solidFill>
              <a:srgbClr val="D6CDBF"/>
            </a:solidFill>
          </a:ln>
          <a:effectLst>
            <a:outerShdw blurRad="101600" dist="38100" dir="5400000" rotWithShape="0">
              <a:srgbClr val="000000">
                <a:alpha val="28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6969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44450"/>
          </a:xfrm>
          <a:prstGeom prst="rect">
            <a:avLst/>
          </a:prstGeom>
          <a:solidFill>
            <a:srgbClr val="EF9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6365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10" dirty="0">
                <a:solidFill>
                  <a:srgbClr val="777777"/>
                </a:solidFill>
                <a:latin typeface="Segoe UI"/>
              </a:rPr>
              <a:t>EXPERIMENT 2 · PROPERLY BIASED SHORT-CHANNEL NMOSFET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2000"/>
            <a:ext cx="6556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 spc="160">
                <a:solidFill>
                  <a:srgbClr val="EF9529"/>
                </a:solidFill>
                <a:latin typeface="Segoe UI"/>
              </a:rPr>
              <a:t>EXPERIMENT 02 · DEVICE BIASING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41400"/>
            <a:ext cx="6556248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111111"/>
                </a:solidFill>
                <a:latin typeface="Segoe UI"/>
              </a:rPr>
              <a:t>Properly Biased Short-Channel nMOSFET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2212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50720"/>
            <a:ext cx="6556248" cy="375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latin typeface="Segoe UI"/>
              </a:rPr>
              <a:t>Design a short-channel nMOSFET current sink biased in saturation, and verify width, bias voltages, drain current, transconductance and saturation margin.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940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THEORY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48000"/>
            <a:ext cx="6556248" cy="6140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dirty="0">
                <a:latin typeface="Segoe UI"/>
              </a:rPr>
              <a:t>For a short</a:t>
            </a:r>
            <a:r>
              <a:rPr lang="en-US" sz="1100" b="0" i="0" dirty="0">
                <a:latin typeface="Segoe UI"/>
              </a:rPr>
              <a:t>-</a:t>
            </a:r>
            <a:r>
              <a:rPr sz="1100" b="0" i="0" dirty="0">
                <a:latin typeface="Segoe UI"/>
              </a:rPr>
              <a:t>channel current sink, VGS must supply enough overdrive while VDS keeps the device in saturation.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dirty="0">
                <a:latin typeface="Segoe UI"/>
              </a:rPr>
              <a:t>The flow picks a target drain current, computes the width for a fixed channel length, and reports the saturation margin so the operating distance from triode is visible.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8243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DESIGN RELATION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11040"/>
            <a:ext cx="3186684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 dirty="0">
                <a:solidFill>
                  <a:srgbClr val="111111"/>
                </a:solidFill>
                <a:latin typeface="Consolas"/>
              </a:rPr>
              <a:t>VOV = VGS − VTH        </a:t>
            </a:r>
            <a:endParaRPr lang="en-US" sz="1000" b="1" i="0" dirty="0">
              <a:solidFill>
                <a:srgbClr val="111111"/>
              </a:solidFill>
              <a:latin typeface="Consolas"/>
            </a:endParaRPr>
          </a:p>
          <a:p>
            <a:pPr algn="ctr"/>
            <a:r>
              <a:rPr sz="1000" b="1" i="0" dirty="0">
                <a:solidFill>
                  <a:srgbClr val="111111"/>
                </a:solidFill>
                <a:latin typeface="Consolas"/>
              </a:rPr>
              <a:t>VDS ≥ VOV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2484" y="428243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APPARATUS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4511040"/>
            <a:ext cx="3186684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ctr">
              <a:spcAft>
                <a:spcPts val="200"/>
              </a:spcAft>
            </a:pPr>
            <a:r>
              <a:rPr sz="1000" b="0" i="0" dirty="0">
                <a:solidFill>
                  <a:srgbClr val="444444"/>
                </a:solidFill>
                <a:latin typeface="Consolas"/>
              </a:rPr>
              <a:t>run_analysis.py </a:t>
            </a:r>
            <a:endParaRPr lang="en-US" sz="1000" b="0" i="0" dirty="0">
              <a:solidFill>
                <a:srgbClr val="444444"/>
              </a:solidFill>
              <a:latin typeface="Consolas"/>
            </a:endParaRPr>
          </a:p>
          <a:p>
            <a:pPr algn="ctr">
              <a:spcAft>
                <a:spcPts val="200"/>
              </a:spcAft>
            </a:pPr>
            <a:r>
              <a:rPr sz="1000" b="0" i="0" dirty="0" err="1">
                <a:solidFill>
                  <a:srgbClr val="444444"/>
                </a:solidFill>
                <a:latin typeface="Consolas"/>
              </a:rPr>
              <a:t>design.cir</a:t>
            </a:r>
            <a:endParaRPr sz="1000" b="0" i="0" dirty="0">
              <a:solidFill>
                <a:srgbClr val="444444"/>
              </a:solidFill>
              <a:latin typeface="Consolas"/>
            </a:endParaRPr>
          </a:p>
          <a:p>
            <a:pPr algn="ctr">
              <a:spcAft>
                <a:spcPts val="200"/>
              </a:spcAft>
            </a:pPr>
            <a:r>
              <a:rPr sz="1000" b="0" i="0" dirty="0" err="1">
                <a:solidFill>
                  <a:srgbClr val="444444"/>
                </a:solidFill>
                <a:latin typeface="Consolas"/>
              </a:rPr>
              <a:t>ngspice</a:t>
            </a:r>
            <a:endParaRPr sz="1000" b="0" i="0" dirty="0">
              <a:solidFill>
                <a:srgbClr val="444444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537972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PROCEDURE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17464"/>
            <a:ext cx="6556248" cy="102870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9A9AA0"/>
                </a:solidFill>
                <a:latin typeface="Consolas"/>
              </a:rPr>
              <a:t>cd </a:t>
            </a:r>
            <a:r>
              <a:rPr sz="850" b="0" i="0" dirty="0" err="1">
                <a:solidFill>
                  <a:srgbClr val="9A9AA0"/>
                </a:solidFill>
                <a:latin typeface="Consolas"/>
              </a:rPr>
              <a:t>experiment_folder</a:t>
            </a:r>
            <a:endParaRPr sz="850" b="0" i="0" dirty="0">
              <a:solidFill>
                <a:srgbClr val="9A9AA0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workspace create --env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analog_experiments</a:t>
            </a: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script run_analysis.py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ngspice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-b -o build/spice.log spice/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design.cir</a:t>
            </a: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lang="en-US" sz="900" dirty="0">
                <a:solidFill>
                  <a:srgbClr val="EF9529"/>
                </a:solidFill>
                <a:latin typeface="Consolas"/>
              </a:rPr>
              <a:t>type .\build\spice.log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sz="900" b="0" i="0" dirty="0">
              <a:solidFill>
                <a:srgbClr val="EF9529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76655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ANALYTICAL VERIFICATION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6989064"/>
            <a:ext cx="3186684" cy="123444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>
                <a:solidFill>
                  <a:srgbClr val="EF9529"/>
                </a:solidFill>
                <a:latin typeface="Consolas"/>
              </a:rPr>
              <a:t>$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script run_analysis.py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W=3.46 um L=0.18 um VGS=0.65 V VDS=0.90 V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ID=100.0 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uA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 gm=1.00 mS margin=0.70 V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PASS 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short_channel_nmos_bias</a:t>
            </a:r>
            <a:endParaRPr sz="850" b="0" i="0" dirty="0">
              <a:solidFill>
                <a:srgbClr val="EDEDED"/>
              </a:solidFill>
              <a:latin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72484" y="676655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SPICE 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72484" y="6989064"/>
            <a:ext cx="3186684" cy="123444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>
                <a:solidFill>
                  <a:srgbClr val="EF9529"/>
                </a:solidFill>
                <a:latin typeface="Consolas"/>
              </a:rPr>
              <a:t>$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ngspice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-b -o build/spice.log spice/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design.cir</a:t>
            </a: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 err="1">
                <a:solidFill>
                  <a:srgbClr val="EDEDED"/>
                </a:solidFill>
                <a:latin typeface="Consolas"/>
              </a:rPr>
              <a:t>i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(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vd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) = -7.96569e-05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v(d) = 9.000000e-01  v(g) = 6.500000e-01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Tool '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ngspice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' completed successfully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1019556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10259568"/>
            <a:ext cx="215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© 2026 Ignytion IO · ignytion.io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102595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July 2026 · Version 1.0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10259568"/>
            <a:ext cx="2029968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 dirty="0">
                <a:solidFill>
                  <a:srgbClr val="777777"/>
                </a:solidFill>
                <a:latin typeface="Segoe UI"/>
              </a:rPr>
              <a:t>0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6 </a:t>
            </a:r>
            <a:r>
              <a:rPr sz="750" b="0" i="0" dirty="0">
                <a:solidFill>
                  <a:srgbClr val="777777"/>
                </a:solidFill>
                <a:latin typeface="Segoe UI"/>
              </a:rPr>
              <a:t>/ 1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6</a:t>
            </a:r>
            <a:endParaRPr sz="750" b="0" i="0" dirty="0">
              <a:solidFill>
                <a:srgbClr val="777777"/>
              </a:solidFill>
              <a:latin typeface="Segoe UI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865372-F210-DDF1-EB95-25A3D5C57ED4}"/>
              </a:ext>
            </a:extLst>
          </p:cNvPr>
          <p:cNvSpPr/>
          <p:nvPr/>
        </p:nvSpPr>
        <p:spPr>
          <a:xfrm>
            <a:off x="502919" y="60960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90D4D172-C6BB-B4A3-2157-9D678A911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820" y="221896"/>
            <a:ext cx="165625" cy="209551"/>
          </a:xfrm>
          <a:prstGeom prst="rect">
            <a:avLst/>
          </a:prstGeom>
        </p:spPr>
      </p:pic>
      <p:sp>
        <p:nvSpPr>
          <p:cNvPr id="39" name="Text 3">
            <a:extLst>
              <a:ext uri="{FF2B5EF4-FFF2-40B4-BE49-F238E27FC236}">
                <a16:creationId xmlns:a16="http://schemas.microsoft.com/office/drawing/2014/main" id="{CA7497AD-C42E-3ED1-D6E6-57E2814DA4DE}"/>
              </a:ext>
            </a:extLst>
          </p:cNvPr>
          <p:cNvSpPr/>
          <p:nvPr/>
        </p:nvSpPr>
        <p:spPr>
          <a:xfrm>
            <a:off x="6571624" y="275235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186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23">
            <a:extLst>
              <a:ext uri="{FF2B5EF4-FFF2-40B4-BE49-F238E27FC236}">
                <a16:creationId xmlns:a16="http://schemas.microsoft.com/office/drawing/2014/main" id="{3985E4B6-256C-1021-57E9-8C134C1A6ED1}"/>
              </a:ext>
            </a:extLst>
          </p:cNvPr>
          <p:cNvSpPr/>
          <p:nvPr/>
        </p:nvSpPr>
        <p:spPr>
          <a:xfrm>
            <a:off x="502920" y="5028894"/>
            <a:ext cx="6556248" cy="577850"/>
          </a:xfrm>
          <a:prstGeom prst="roundRect">
            <a:avLst>
              <a:gd name="adj" fmla="val 12000"/>
            </a:avLst>
          </a:prstGeom>
          <a:solidFill>
            <a:srgbClr val="FBF3E7"/>
          </a:solidFill>
          <a:ln w="12700">
            <a:solidFill>
              <a:srgbClr val="EF9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926CA4-660E-9837-6AE2-ABAAE64679EC}"/>
              </a:ext>
            </a:extLst>
          </p:cNvPr>
          <p:cNvSpPr txBox="1"/>
          <p:nvPr/>
        </p:nvSpPr>
        <p:spPr>
          <a:xfrm>
            <a:off x="612648" y="5047944"/>
            <a:ext cx="38735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EF9529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C73B3A-1297-6B65-D6A8-33E29C2DD11E}"/>
              </a:ext>
            </a:extLst>
          </p:cNvPr>
          <p:cNvSpPr txBox="1"/>
          <p:nvPr/>
        </p:nvSpPr>
        <p:spPr>
          <a:xfrm>
            <a:off x="1005840" y="5086044"/>
            <a:ext cx="5916168" cy="179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 dirty="0">
                <a:solidFill>
                  <a:srgbClr val="111111"/>
                </a:solidFill>
                <a:latin typeface="Segoe UI"/>
              </a:rPr>
              <a:t>Experiment 2 </a:t>
            </a:r>
            <a:r>
              <a:rPr lang="en-US" sz="1150" b="1" i="0" dirty="0">
                <a:solidFill>
                  <a:srgbClr val="111111"/>
                </a:solidFill>
                <a:latin typeface="Segoe UI"/>
              </a:rPr>
              <a:t>-</a:t>
            </a:r>
            <a:r>
              <a:rPr sz="1150" b="1" i="0" dirty="0">
                <a:solidFill>
                  <a:srgbClr val="111111"/>
                </a:solidFill>
                <a:latin typeface="Segoe UI"/>
              </a:rPr>
              <a:t> PASS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E07B78-181F-B2F1-0941-B25779ABA0C7}"/>
              </a:ext>
            </a:extLst>
          </p:cNvPr>
          <p:cNvSpPr txBox="1"/>
          <p:nvPr/>
        </p:nvSpPr>
        <p:spPr>
          <a:xfrm>
            <a:off x="1005840" y="5320994"/>
            <a:ext cx="5916168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444444"/>
                </a:solidFill>
                <a:latin typeface="Segoe UI"/>
              </a:rPr>
              <a:t>Key result: ID=100.0 µA, gm=1.00 mS, margin 0.70 V.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59268E-B912-2A90-F0FF-A9C25BE424C4}"/>
              </a:ext>
            </a:extLst>
          </p:cNvPr>
          <p:cNvSpPr/>
          <p:nvPr/>
        </p:nvSpPr>
        <p:spPr>
          <a:xfrm>
            <a:off x="0" y="0"/>
            <a:ext cx="7562088" cy="44450"/>
          </a:xfrm>
          <a:prstGeom prst="rect">
            <a:avLst/>
          </a:prstGeom>
          <a:solidFill>
            <a:srgbClr val="EF9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FFD04F-1DE7-C178-C94B-BB92C1E8697F}"/>
              </a:ext>
            </a:extLst>
          </p:cNvPr>
          <p:cNvSpPr txBox="1"/>
          <p:nvPr/>
        </p:nvSpPr>
        <p:spPr>
          <a:xfrm>
            <a:off x="502920" y="304948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10">
                <a:solidFill>
                  <a:srgbClr val="777777"/>
                </a:solidFill>
                <a:latin typeface="Segoe UI"/>
              </a:rPr>
              <a:t>EXPERIMENT 2 · PROPERLY BIASED SHORT-CHANNEL NMOSFET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6DA356-5E2D-6296-5F4D-6C990D49405B}"/>
              </a:ext>
            </a:extLst>
          </p:cNvPr>
          <p:cNvSpPr txBox="1"/>
          <p:nvPr/>
        </p:nvSpPr>
        <p:spPr>
          <a:xfrm>
            <a:off x="502920" y="762000"/>
            <a:ext cx="6556248" cy="148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 spc="160" dirty="0">
                <a:solidFill>
                  <a:srgbClr val="EF9529"/>
                </a:solidFill>
                <a:latin typeface="Segoe UI"/>
              </a:rPr>
              <a:t>EXPERIMENT 02 ·</a:t>
            </a:r>
            <a:r>
              <a:rPr lang="en-US" sz="950" b="1" i="0" spc="160" dirty="0">
                <a:solidFill>
                  <a:srgbClr val="EF9529"/>
                </a:solidFill>
                <a:latin typeface="Segoe UI"/>
              </a:rPr>
              <a:t> (contd.)</a:t>
            </a:r>
            <a:endParaRPr sz="950" b="1" i="0" spc="160" dirty="0">
              <a:solidFill>
                <a:srgbClr val="EF9529"/>
              </a:solidFill>
              <a:latin typeface="Segoe UI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7761D7-BC11-7A1D-E623-10BFA1745830}"/>
              </a:ext>
            </a:extLst>
          </p:cNvPr>
          <p:cNvSpPr/>
          <p:nvPr/>
        </p:nvSpPr>
        <p:spPr>
          <a:xfrm>
            <a:off x="502920" y="1019556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9088E3-49A1-3E78-9818-9982097F99F3}"/>
              </a:ext>
            </a:extLst>
          </p:cNvPr>
          <p:cNvSpPr txBox="1"/>
          <p:nvPr/>
        </p:nvSpPr>
        <p:spPr>
          <a:xfrm>
            <a:off x="502920" y="10259568"/>
            <a:ext cx="215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© 2026 Ignytion IO · ignytion.io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4C1EC2-2F64-70C7-AFEA-86119D4DF777}"/>
              </a:ext>
            </a:extLst>
          </p:cNvPr>
          <p:cNvSpPr txBox="1"/>
          <p:nvPr/>
        </p:nvSpPr>
        <p:spPr>
          <a:xfrm>
            <a:off x="2743200" y="102595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July 2026 · Version 1.0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135266-288C-549D-7A87-176AF2E7BC68}"/>
              </a:ext>
            </a:extLst>
          </p:cNvPr>
          <p:cNvSpPr txBox="1"/>
          <p:nvPr/>
        </p:nvSpPr>
        <p:spPr>
          <a:xfrm>
            <a:off x="5029200" y="10259568"/>
            <a:ext cx="2029968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 dirty="0">
                <a:solidFill>
                  <a:srgbClr val="777777"/>
                </a:solidFill>
                <a:latin typeface="Segoe UI"/>
              </a:rPr>
              <a:t>0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7</a:t>
            </a:r>
            <a:r>
              <a:rPr sz="750" b="0" i="0" dirty="0">
                <a:solidFill>
                  <a:srgbClr val="777777"/>
                </a:solidFill>
                <a:latin typeface="Segoe UI"/>
              </a:rPr>
              <a:t> / 1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6</a:t>
            </a:r>
            <a:endParaRPr sz="750" b="0" i="0" dirty="0">
              <a:solidFill>
                <a:srgbClr val="777777"/>
              </a:solidFill>
              <a:latin typeface="Segoe U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F7B90C-A1EB-DDF6-607C-6C39285FDECB}"/>
              </a:ext>
            </a:extLst>
          </p:cNvPr>
          <p:cNvSpPr txBox="1"/>
          <p:nvPr/>
        </p:nvSpPr>
        <p:spPr>
          <a:xfrm>
            <a:off x="502919" y="4055172"/>
            <a:ext cx="6693283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 dirty="0">
                <a:solidFill>
                  <a:srgbClr val="EF9529"/>
                </a:solidFill>
                <a:latin typeface="Segoe UI"/>
              </a:rPr>
              <a:t>RESULT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E2F22C-D066-7A68-F458-376B874F7BC0}"/>
              </a:ext>
            </a:extLst>
          </p:cNvPr>
          <p:cNvSpPr txBox="1"/>
          <p:nvPr/>
        </p:nvSpPr>
        <p:spPr>
          <a:xfrm>
            <a:off x="502919" y="4283772"/>
            <a:ext cx="6693283" cy="34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Segoe UI"/>
              </a:rPr>
              <a:t>The selected width supports the target 100 µA drain current with a 0.70 V saturation margin </a:t>
            </a:r>
            <a:r>
              <a:rPr lang="en-US" sz="1100" b="0" i="0" dirty="0">
                <a:latin typeface="Segoe UI"/>
              </a:rPr>
              <a:t>-</a:t>
            </a:r>
            <a:r>
              <a:rPr sz="1100" b="0" i="0" dirty="0">
                <a:latin typeface="Segoe UI"/>
              </a:rPr>
              <a:t> properly biased for the stated operating point.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837FA28-3EAB-EC9A-D084-1E9DC3C57A84}"/>
              </a:ext>
            </a:extLst>
          </p:cNvPr>
          <p:cNvSpPr/>
          <p:nvPr/>
        </p:nvSpPr>
        <p:spPr>
          <a:xfrm>
            <a:off x="502919" y="60960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9309B3BA-ABC9-4A04-79CD-4516876C9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820" y="221896"/>
            <a:ext cx="165625" cy="209551"/>
          </a:xfrm>
          <a:prstGeom prst="rect">
            <a:avLst/>
          </a:prstGeom>
        </p:spPr>
      </p:pic>
      <p:sp>
        <p:nvSpPr>
          <p:cNvPr id="43" name="Text 3">
            <a:extLst>
              <a:ext uri="{FF2B5EF4-FFF2-40B4-BE49-F238E27FC236}">
                <a16:creationId xmlns:a16="http://schemas.microsoft.com/office/drawing/2014/main" id="{6F33E9F4-BDA1-2A38-E301-B7FC86CA2071}"/>
              </a:ext>
            </a:extLst>
          </p:cNvPr>
          <p:cNvSpPr/>
          <p:nvPr/>
        </p:nvSpPr>
        <p:spPr>
          <a:xfrm>
            <a:off x="6571624" y="275235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1D583A-D7BA-1ADE-261D-60939D3D3609}"/>
              </a:ext>
            </a:extLst>
          </p:cNvPr>
          <p:cNvSpPr txBox="1"/>
          <p:nvPr/>
        </p:nvSpPr>
        <p:spPr>
          <a:xfrm>
            <a:off x="502918" y="104140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850" b="1" i="0" spc="110" dirty="0">
                <a:solidFill>
                  <a:srgbClr val="EF9529"/>
                </a:solidFill>
                <a:latin typeface="Segoe UI"/>
              </a:rPr>
              <a:t>CRUCIBLE EXECUTION</a:t>
            </a:r>
            <a:endParaRPr sz="850" b="1" i="0" spc="110" dirty="0">
              <a:solidFill>
                <a:srgbClr val="EF9529"/>
              </a:solidFill>
              <a:latin typeface="Segoe UI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04526927-4E02-1C03-0D69-FAEFB18F66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0"/>
          <a:stretch>
            <a:fillRect/>
          </a:stretch>
        </p:blipFill>
        <p:spPr>
          <a:xfrm>
            <a:off x="502918" y="1375141"/>
            <a:ext cx="6419090" cy="2399817"/>
          </a:xfrm>
          <a:prstGeom prst="roundRect">
            <a:avLst>
              <a:gd name="adj" fmla="val 4000"/>
            </a:avLst>
          </a:prstGeom>
          <a:ln w="9525">
            <a:solidFill>
              <a:srgbClr val="D6CDBF"/>
            </a:solidFill>
          </a:ln>
          <a:effectLst>
            <a:outerShdw blurRad="101600" dist="38100" dir="5400000" rotWithShape="0">
              <a:srgbClr val="000000">
                <a:alpha val="28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3611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44450"/>
          </a:xfrm>
          <a:prstGeom prst="rect">
            <a:avLst/>
          </a:prstGeom>
          <a:solidFill>
            <a:srgbClr val="EF9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885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10" dirty="0">
                <a:solidFill>
                  <a:srgbClr val="777777"/>
                </a:solidFill>
                <a:latin typeface="Segoe UI"/>
              </a:rPr>
              <a:t>EXPERIMENT 3 · CMOS AND PSEUDO-NMOS 2-INPUT NAND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2000"/>
            <a:ext cx="6556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 spc="160">
                <a:solidFill>
                  <a:srgbClr val="EF9529"/>
                </a:solidFill>
                <a:latin typeface="Segoe UI"/>
              </a:rPr>
              <a:t>EXPERIMENT 03 · LOGIC FAMILIES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41400"/>
            <a:ext cx="6556248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111111"/>
                </a:solidFill>
                <a:latin typeface="Segoe UI"/>
              </a:rPr>
              <a:t>CMOS and Pseudo-nMOS 2-Input NAND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2212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 dirty="0">
                <a:solidFill>
                  <a:srgbClr val="EF9529"/>
                </a:solidFill>
                <a:latin typeface="Segoe UI"/>
              </a:rPr>
              <a:t>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50720"/>
            <a:ext cx="6556248" cy="375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latin typeface="Segoe UI"/>
              </a:rPr>
              <a:t>Design a 2-input NAND in complementary CMOS and pseudo-nMOS, then compare truth-table behaviour and the static low-level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940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 dirty="0">
                <a:solidFill>
                  <a:srgbClr val="EF9529"/>
                </a:solidFill>
                <a:latin typeface="Segoe UI"/>
              </a:rPr>
              <a:t>THEORY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48000"/>
            <a:ext cx="6556248" cy="798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dirty="0">
                <a:latin typeface="Segoe UI"/>
              </a:rPr>
              <a:t>A complementary CMOS NAND uses a parallel </a:t>
            </a:r>
            <a:r>
              <a:rPr sz="1100" b="0" i="0" dirty="0" err="1">
                <a:latin typeface="Segoe UI"/>
              </a:rPr>
              <a:t>pMOS</a:t>
            </a:r>
            <a:r>
              <a:rPr sz="1100" b="0" i="0" dirty="0">
                <a:latin typeface="Segoe UI"/>
              </a:rPr>
              <a:t> pull-up and a series </a:t>
            </a:r>
            <a:r>
              <a:rPr sz="1100" b="0" i="0" dirty="0" err="1">
                <a:latin typeface="Segoe UI"/>
              </a:rPr>
              <a:t>nMOS</a:t>
            </a:r>
            <a:r>
              <a:rPr sz="1100" b="0" i="0" dirty="0">
                <a:latin typeface="Segoe UI"/>
              </a:rPr>
              <a:t> pull-down; the output is low only when both inputs are high.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dirty="0">
                <a:latin typeface="Segoe UI"/>
              </a:rPr>
              <a:t>Pseudo-</a:t>
            </a:r>
            <a:r>
              <a:rPr sz="1100" b="0" i="0" dirty="0" err="1">
                <a:latin typeface="Segoe UI"/>
              </a:rPr>
              <a:t>nMOS</a:t>
            </a:r>
            <a:r>
              <a:rPr sz="1100" b="0" i="0" dirty="0">
                <a:latin typeface="Segoe UI"/>
              </a:rPr>
              <a:t> replaces the pull-up with an always-on weak </a:t>
            </a:r>
            <a:r>
              <a:rPr sz="1100" b="0" i="0" dirty="0" err="1">
                <a:latin typeface="Segoe UI"/>
              </a:rPr>
              <a:t>pMOS</a:t>
            </a:r>
            <a:r>
              <a:rPr sz="1100" b="0" i="0" dirty="0">
                <a:latin typeface="Segoe UI"/>
              </a:rPr>
              <a:t> load, cutting device count but making VOL depend on the pull-up / pull-down strength ratio.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8243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DESIGN RELATION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11040"/>
            <a:ext cx="3186684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 dirty="0">
                <a:solidFill>
                  <a:srgbClr val="111111"/>
                </a:solidFill>
                <a:latin typeface="Consolas"/>
              </a:rPr>
              <a:t>Y = !(A · B)    </a:t>
            </a:r>
            <a:endParaRPr lang="en-US" sz="1000" b="1" i="0" dirty="0">
              <a:solidFill>
                <a:srgbClr val="111111"/>
              </a:solidFill>
              <a:latin typeface="Consolas"/>
            </a:endParaRPr>
          </a:p>
          <a:p>
            <a:pPr algn="ctr"/>
            <a:r>
              <a:rPr sz="1000" b="1" i="0" dirty="0">
                <a:solidFill>
                  <a:srgbClr val="111111"/>
                </a:solidFill>
                <a:latin typeface="Consolas"/>
              </a:rPr>
              <a:t>VOL depends on </a:t>
            </a:r>
            <a:r>
              <a:rPr sz="1000" b="1" i="0" dirty="0" err="1">
                <a:solidFill>
                  <a:srgbClr val="111111"/>
                </a:solidFill>
                <a:latin typeface="Consolas"/>
              </a:rPr>
              <a:t>pMOS</a:t>
            </a:r>
            <a:r>
              <a:rPr sz="1000" b="1" i="0" dirty="0">
                <a:solidFill>
                  <a:srgbClr val="111111"/>
                </a:solidFill>
                <a:latin typeface="Consolas"/>
              </a:rPr>
              <a:t>-load / </a:t>
            </a:r>
            <a:r>
              <a:rPr sz="1000" b="1" i="0" dirty="0" err="1">
                <a:solidFill>
                  <a:srgbClr val="111111"/>
                </a:solidFill>
                <a:latin typeface="Consolas"/>
              </a:rPr>
              <a:t>nMOS</a:t>
            </a:r>
            <a:r>
              <a:rPr sz="1000" b="1" i="0" dirty="0">
                <a:solidFill>
                  <a:srgbClr val="111111"/>
                </a:solidFill>
                <a:latin typeface="Consolas"/>
              </a:rPr>
              <a:t>-stack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2484" y="428243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APPARATUS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2484" y="4511040"/>
            <a:ext cx="3186684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ctr">
              <a:spcAft>
                <a:spcPts val="200"/>
              </a:spcAft>
            </a:pPr>
            <a:endParaRPr sz="900" b="0" i="0" dirty="0">
              <a:solidFill>
                <a:srgbClr val="444444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537972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PROCEDURE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17464"/>
            <a:ext cx="6556248" cy="102870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9A9AA0"/>
                </a:solidFill>
                <a:latin typeface="Consolas"/>
              </a:rPr>
              <a:t>cd </a:t>
            </a:r>
            <a:r>
              <a:rPr sz="850" b="0" i="0" dirty="0" err="1">
                <a:solidFill>
                  <a:srgbClr val="9A9AA0"/>
                </a:solidFill>
                <a:latin typeface="Consolas"/>
              </a:rPr>
              <a:t>experiment_folder</a:t>
            </a:r>
            <a:endParaRPr sz="850" b="0" i="0" dirty="0">
              <a:solidFill>
                <a:srgbClr val="9A9AA0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workspace create --env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analog_experiments</a:t>
            </a: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script run_analysis.py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ngspice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-b -o build/spice.log spice/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design.cir</a:t>
            </a: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lang="en-US" sz="900" dirty="0">
                <a:solidFill>
                  <a:srgbClr val="EF9529"/>
                </a:solidFill>
                <a:latin typeface="Consolas"/>
              </a:rPr>
              <a:t>type .\build\spice.log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sz="900" b="0" i="0" dirty="0">
              <a:solidFill>
                <a:srgbClr val="EF9529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76655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 dirty="0">
                <a:solidFill>
                  <a:srgbClr val="EF9529"/>
                </a:solidFill>
                <a:latin typeface="Segoe UI"/>
              </a:rPr>
              <a:t>ANALYTICAL VERIFICATION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6989064"/>
            <a:ext cx="3186684" cy="123444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>
                <a:solidFill>
                  <a:srgbClr val="EF9529"/>
                </a:solidFill>
                <a:latin typeface="Consolas"/>
              </a:rPr>
              <a:t>$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script run_analysis.py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A=0 B=0 CMOS=1 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pseudo_nmos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=1.800 V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A=1 B=1 CMOS=0 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pseudo_nmos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=0.212 V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PASS 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cmos_pseudo_nmos_nand</a:t>
            </a:r>
            <a:endParaRPr sz="850" b="0" i="0" dirty="0">
              <a:solidFill>
                <a:srgbClr val="EDEDED"/>
              </a:solidFill>
              <a:latin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72484" y="676655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SPICE 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72484" y="6989064"/>
            <a:ext cx="3186684" cy="123444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lang="en-US" sz="90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>
                <a:solidFill>
                  <a:srgbClr val="EF9529"/>
                </a:solidFill>
                <a:latin typeface="Consolas"/>
              </a:rPr>
              <a:t>$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ngspice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-b -o build/spice.log spice/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design.cir</a:t>
            </a: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v(y1) = 2.413333e-09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v(y2) = 4.067857e-01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Tool '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ngspice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' completed successfully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1019556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10259568"/>
            <a:ext cx="215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© 2026 Ignytion IO · ignytion.io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102595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July 2026 · Version 1.0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10259568"/>
            <a:ext cx="2029968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 dirty="0">
                <a:solidFill>
                  <a:srgbClr val="777777"/>
                </a:solidFill>
                <a:latin typeface="Segoe UI"/>
              </a:rPr>
              <a:t>0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8</a:t>
            </a:r>
            <a:r>
              <a:rPr sz="750" b="0" i="0" dirty="0">
                <a:solidFill>
                  <a:srgbClr val="777777"/>
                </a:solidFill>
                <a:latin typeface="Segoe UI"/>
              </a:rPr>
              <a:t> / 1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6</a:t>
            </a:r>
            <a:endParaRPr sz="750" b="0" i="0" dirty="0">
              <a:solidFill>
                <a:srgbClr val="777777"/>
              </a:solidFill>
              <a:latin typeface="Segoe U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B18ACF-F760-BD5A-8D21-91BB30E6A8AC}"/>
              </a:ext>
            </a:extLst>
          </p:cNvPr>
          <p:cNvSpPr txBox="1"/>
          <p:nvPr/>
        </p:nvSpPr>
        <p:spPr>
          <a:xfrm>
            <a:off x="3574396" y="4577679"/>
            <a:ext cx="37828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1000" b="0" i="0" dirty="0">
                <a:solidFill>
                  <a:srgbClr val="444444"/>
                </a:solidFill>
                <a:latin typeface="Consolas"/>
              </a:rPr>
              <a:t>run_analysis.py </a:t>
            </a:r>
          </a:p>
          <a:p>
            <a:pPr algn="ctr">
              <a:spcAft>
                <a:spcPts val="200"/>
              </a:spcAft>
            </a:pPr>
            <a:r>
              <a:rPr lang="en-US" sz="1000" b="0" i="0" dirty="0" err="1">
                <a:solidFill>
                  <a:srgbClr val="444444"/>
                </a:solidFill>
                <a:latin typeface="Consolas"/>
              </a:rPr>
              <a:t>design.cir</a:t>
            </a:r>
            <a:endParaRPr lang="en-US" sz="1000" b="0" i="0" dirty="0">
              <a:solidFill>
                <a:srgbClr val="444444"/>
              </a:solidFill>
              <a:latin typeface="Consolas"/>
            </a:endParaRPr>
          </a:p>
          <a:p>
            <a:pPr algn="ctr">
              <a:spcAft>
                <a:spcPts val="200"/>
              </a:spcAft>
            </a:pPr>
            <a:r>
              <a:rPr lang="en-US" sz="1000" b="0" i="0" dirty="0" err="1">
                <a:solidFill>
                  <a:srgbClr val="444444"/>
                </a:solidFill>
                <a:latin typeface="Consolas"/>
              </a:rPr>
              <a:t>ngspice</a:t>
            </a:r>
            <a:endParaRPr lang="en-US" sz="1000" b="0" i="0" dirty="0">
              <a:solidFill>
                <a:srgbClr val="444444"/>
              </a:solidFill>
              <a:latin typeface="Consola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7BF129-7C84-E42D-50B1-8109DA281428}"/>
              </a:ext>
            </a:extLst>
          </p:cNvPr>
          <p:cNvSpPr/>
          <p:nvPr/>
        </p:nvSpPr>
        <p:spPr>
          <a:xfrm>
            <a:off x="502919" y="60960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FF08902D-98DB-9C38-C97C-90C6D4A85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820" y="221896"/>
            <a:ext cx="165625" cy="209551"/>
          </a:xfrm>
          <a:prstGeom prst="rect">
            <a:avLst/>
          </a:prstGeom>
        </p:spPr>
      </p:pic>
      <p:sp>
        <p:nvSpPr>
          <p:cNvPr id="39" name="Text 3">
            <a:extLst>
              <a:ext uri="{FF2B5EF4-FFF2-40B4-BE49-F238E27FC236}">
                <a16:creationId xmlns:a16="http://schemas.microsoft.com/office/drawing/2014/main" id="{49C5DFC7-0740-7440-5C0F-FC4B036CA18D}"/>
              </a:ext>
            </a:extLst>
          </p:cNvPr>
          <p:cNvSpPr/>
          <p:nvPr/>
        </p:nvSpPr>
        <p:spPr>
          <a:xfrm>
            <a:off x="6571624" y="275235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141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FD924-7B2D-9C6A-A29A-C0BAE242C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2292ED6-B0F6-6F0B-AAB6-560D243B3109}"/>
              </a:ext>
            </a:extLst>
          </p:cNvPr>
          <p:cNvSpPr/>
          <p:nvPr/>
        </p:nvSpPr>
        <p:spPr>
          <a:xfrm>
            <a:off x="0" y="0"/>
            <a:ext cx="7562088" cy="44450"/>
          </a:xfrm>
          <a:prstGeom prst="rect">
            <a:avLst/>
          </a:prstGeom>
          <a:solidFill>
            <a:srgbClr val="EF9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253B3E-5E06-B469-4B35-7C1F618153B2}"/>
              </a:ext>
            </a:extLst>
          </p:cNvPr>
          <p:cNvSpPr/>
          <p:nvPr/>
        </p:nvSpPr>
        <p:spPr>
          <a:xfrm>
            <a:off x="502920" y="1019556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2EB005-8B89-9041-60BB-043150645C99}"/>
              </a:ext>
            </a:extLst>
          </p:cNvPr>
          <p:cNvSpPr txBox="1"/>
          <p:nvPr/>
        </p:nvSpPr>
        <p:spPr>
          <a:xfrm>
            <a:off x="502920" y="10259568"/>
            <a:ext cx="215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© 2026 Ignytion IO · ignytion.io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CD5223-0002-DF32-3E74-184F0138F150}"/>
              </a:ext>
            </a:extLst>
          </p:cNvPr>
          <p:cNvSpPr txBox="1"/>
          <p:nvPr/>
        </p:nvSpPr>
        <p:spPr>
          <a:xfrm>
            <a:off x="2743200" y="102595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July 2026 · Version 1.0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AD86F5-E4D3-BDE3-37FA-A8A38C92A300}"/>
              </a:ext>
            </a:extLst>
          </p:cNvPr>
          <p:cNvSpPr txBox="1"/>
          <p:nvPr/>
        </p:nvSpPr>
        <p:spPr>
          <a:xfrm>
            <a:off x="5029200" y="10259568"/>
            <a:ext cx="2029968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 dirty="0">
                <a:solidFill>
                  <a:srgbClr val="777777"/>
                </a:solidFill>
                <a:latin typeface="Segoe UI"/>
              </a:rPr>
              <a:t>0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9 </a:t>
            </a:r>
            <a:r>
              <a:rPr sz="750" b="0" i="0" dirty="0">
                <a:solidFill>
                  <a:srgbClr val="777777"/>
                </a:solidFill>
                <a:latin typeface="Segoe UI"/>
              </a:rPr>
              <a:t>/ 1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6</a:t>
            </a:r>
            <a:endParaRPr sz="750" b="0" i="0" dirty="0">
              <a:solidFill>
                <a:srgbClr val="777777"/>
              </a:solidFill>
              <a:latin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454BB7-FB0A-A762-DF59-CEEAEB703191}"/>
              </a:ext>
            </a:extLst>
          </p:cNvPr>
          <p:cNvSpPr txBox="1"/>
          <p:nvPr/>
        </p:nvSpPr>
        <p:spPr>
          <a:xfrm>
            <a:off x="502920" y="287896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10">
                <a:solidFill>
                  <a:srgbClr val="777777"/>
                </a:solidFill>
                <a:latin typeface="Segoe UI"/>
              </a:rPr>
              <a:t>EXPERIMENT 3 · CMOS AND PSEUDO-NMOS 2-INPUT NAND GATE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214168-5235-5AA8-F908-498CCC043723}"/>
              </a:ext>
            </a:extLst>
          </p:cNvPr>
          <p:cNvSpPr txBox="1"/>
          <p:nvPr/>
        </p:nvSpPr>
        <p:spPr>
          <a:xfrm>
            <a:off x="502920" y="762000"/>
            <a:ext cx="6556248" cy="148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 spc="160" dirty="0">
                <a:solidFill>
                  <a:srgbClr val="EF9529"/>
                </a:solidFill>
                <a:latin typeface="Segoe UI"/>
              </a:rPr>
              <a:t>EXPERIMENT 03 · </a:t>
            </a:r>
            <a:r>
              <a:rPr lang="en-US" sz="950" b="1" i="0" spc="160" dirty="0">
                <a:solidFill>
                  <a:srgbClr val="EF9529"/>
                </a:solidFill>
                <a:latin typeface="Segoe UI"/>
              </a:rPr>
              <a:t>(contd.)</a:t>
            </a:r>
            <a:endParaRPr sz="950" b="1" i="0" spc="160" dirty="0">
              <a:solidFill>
                <a:srgbClr val="EF9529"/>
              </a:solidFill>
              <a:latin typeface="Segoe U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2CE28A-C9CF-6308-6528-462AE8C22973}"/>
              </a:ext>
            </a:extLst>
          </p:cNvPr>
          <p:cNvSpPr txBox="1"/>
          <p:nvPr/>
        </p:nvSpPr>
        <p:spPr>
          <a:xfrm>
            <a:off x="502919" y="3941724"/>
            <a:ext cx="6716465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 dirty="0">
                <a:solidFill>
                  <a:srgbClr val="EF9529"/>
                </a:solidFill>
                <a:latin typeface="Segoe UI"/>
              </a:rPr>
              <a:t>RESULT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864E22-2AF4-F8FF-D4DE-6E3C6343702E}"/>
              </a:ext>
            </a:extLst>
          </p:cNvPr>
          <p:cNvSpPr txBox="1"/>
          <p:nvPr/>
        </p:nvSpPr>
        <p:spPr>
          <a:xfrm>
            <a:off x="502919" y="4170324"/>
            <a:ext cx="6716465" cy="34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Segoe UI"/>
              </a:rPr>
              <a:t>Both styles implement NAND. Pseudo-</a:t>
            </a:r>
            <a:r>
              <a:rPr sz="1100" b="0" i="0" dirty="0" err="1">
                <a:latin typeface="Segoe UI"/>
              </a:rPr>
              <a:t>nMOS</a:t>
            </a:r>
            <a:r>
              <a:rPr sz="1100" b="0" i="0" dirty="0">
                <a:latin typeface="Segoe UI"/>
              </a:rPr>
              <a:t> holds 1.800 V for pull-up cases and reaches 0.212 V when both inputs are high.</a:t>
            </a:r>
          </a:p>
        </p:txBody>
      </p:sp>
      <p:sp>
        <p:nvSpPr>
          <p:cNvPr id="28" name="Rounded Rectangle 23">
            <a:extLst>
              <a:ext uri="{FF2B5EF4-FFF2-40B4-BE49-F238E27FC236}">
                <a16:creationId xmlns:a16="http://schemas.microsoft.com/office/drawing/2014/main" id="{F489EDC8-7A1E-8519-3EF2-B0305F77F405}"/>
              </a:ext>
            </a:extLst>
          </p:cNvPr>
          <p:cNvSpPr/>
          <p:nvPr/>
        </p:nvSpPr>
        <p:spPr>
          <a:xfrm>
            <a:off x="502920" y="4776313"/>
            <a:ext cx="6716464" cy="577850"/>
          </a:xfrm>
          <a:prstGeom prst="roundRect">
            <a:avLst>
              <a:gd name="adj" fmla="val 12000"/>
            </a:avLst>
          </a:prstGeom>
          <a:solidFill>
            <a:srgbClr val="FBF3E7"/>
          </a:solidFill>
          <a:ln w="12700">
            <a:solidFill>
              <a:srgbClr val="EF9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43F6FD-C3CE-6E82-58E4-894241EC2831}"/>
              </a:ext>
            </a:extLst>
          </p:cNvPr>
          <p:cNvSpPr txBox="1"/>
          <p:nvPr/>
        </p:nvSpPr>
        <p:spPr>
          <a:xfrm>
            <a:off x="612648" y="4877776"/>
            <a:ext cx="396816" cy="343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EF9529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5CEE1D-F2C0-9467-3CCD-F5A7A0003FD6}"/>
              </a:ext>
            </a:extLst>
          </p:cNvPr>
          <p:cNvSpPr txBox="1"/>
          <p:nvPr/>
        </p:nvSpPr>
        <p:spPr>
          <a:xfrm>
            <a:off x="1005840" y="4833463"/>
            <a:ext cx="6060742" cy="179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 dirty="0">
                <a:solidFill>
                  <a:srgbClr val="111111"/>
                </a:solidFill>
                <a:latin typeface="Segoe UI"/>
              </a:rPr>
              <a:t>Experiment 3 </a:t>
            </a:r>
            <a:r>
              <a:rPr lang="en-US" sz="1150" b="1" i="0" dirty="0">
                <a:solidFill>
                  <a:srgbClr val="111111"/>
                </a:solidFill>
                <a:latin typeface="Segoe UI"/>
              </a:rPr>
              <a:t>-</a:t>
            </a:r>
            <a:r>
              <a:rPr sz="1150" b="1" i="0" dirty="0">
                <a:solidFill>
                  <a:srgbClr val="111111"/>
                </a:solidFill>
                <a:latin typeface="Segoe UI"/>
              </a:rPr>
              <a:t> PASS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EEDE23-0049-CB4B-CA3A-7EFFDC6FBBE5}"/>
              </a:ext>
            </a:extLst>
          </p:cNvPr>
          <p:cNvSpPr txBox="1"/>
          <p:nvPr/>
        </p:nvSpPr>
        <p:spPr>
          <a:xfrm>
            <a:off x="1005840" y="5068413"/>
            <a:ext cx="6060742" cy="148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444444"/>
                </a:solidFill>
                <a:latin typeface="Segoe UI"/>
              </a:rPr>
              <a:t>Key result: Pseudo-nMOS low output 0.212 V.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608F88C-6DBE-4F23-1326-7E6CB6557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6301"/>
            <a:ext cx="6716466" cy="2272430"/>
          </a:xfrm>
          <a:prstGeom prst="roundRect">
            <a:avLst>
              <a:gd name="adj" fmla="val 4000"/>
            </a:avLst>
          </a:prstGeom>
          <a:ln w="9525">
            <a:solidFill>
              <a:srgbClr val="D6CDBF"/>
            </a:solidFill>
          </a:ln>
          <a:effectLst>
            <a:outerShdw blurRad="101600" dist="38100" dir="5400000" rotWithShape="0">
              <a:srgbClr val="000000">
                <a:alpha val="28000"/>
              </a:srgbClr>
            </a:outerShdw>
          </a:effectLst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6336B7BA-AB6E-BD8A-5CDF-344974759607}"/>
              </a:ext>
            </a:extLst>
          </p:cNvPr>
          <p:cNvSpPr/>
          <p:nvPr/>
        </p:nvSpPr>
        <p:spPr>
          <a:xfrm>
            <a:off x="502919" y="60960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81A078B6-E1F0-D858-8EAA-765A5795A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820" y="221896"/>
            <a:ext cx="165625" cy="209551"/>
          </a:xfrm>
          <a:prstGeom prst="rect">
            <a:avLst/>
          </a:prstGeom>
        </p:spPr>
      </p:pic>
      <p:sp>
        <p:nvSpPr>
          <p:cNvPr id="44" name="Text 3">
            <a:extLst>
              <a:ext uri="{FF2B5EF4-FFF2-40B4-BE49-F238E27FC236}">
                <a16:creationId xmlns:a16="http://schemas.microsoft.com/office/drawing/2014/main" id="{151A6790-0EE6-7AA9-A7CA-2955AE6F465E}"/>
              </a:ext>
            </a:extLst>
          </p:cNvPr>
          <p:cNvSpPr/>
          <p:nvPr/>
        </p:nvSpPr>
        <p:spPr>
          <a:xfrm>
            <a:off x="6571624" y="275235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AAB1E0-F40C-0134-EDA7-1F05CD207A46}"/>
              </a:ext>
            </a:extLst>
          </p:cNvPr>
          <p:cNvSpPr txBox="1"/>
          <p:nvPr/>
        </p:nvSpPr>
        <p:spPr>
          <a:xfrm>
            <a:off x="502918" y="104140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850" b="1" i="0" spc="110" dirty="0">
                <a:solidFill>
                  <a:srgbClr val="EF9529"/>
                </a:solidFill>
                <a:latin typeface="Segoe UI"/>
              </a:rPr>
              <a:t>CRUCIBLE EXECUTION</a:t>
            </a:r>
            <a:endParaRPr sz="850" b="1" i="0" spc="110" dirty="0">
              <a:solidFill>
                <a:srgbClr val="EF9529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568037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44450"/>
          </a:xfrm>
          <a:prstGeom prst="rect">
            <a:avLst/>
          </a:prstGeom>
          <a:solidFill>
            <a:srgbClr val="EF9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03720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10">
                <a:solidFill>
                  <a:srgbClr val="777777"/>
                </a:solidFill>
                <a:latin typeface="Segoe UI"/>
              </a:rPr>
              <a:t>EXPERIMENT 4 · COMMON-SOURCE AMPLIFIER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2000"/>
            <a:ext cx="6556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 spc="160">
                <a:solidFill>
                  <a:srgbClr val="EF9529"/>
                </a:solidFill>
                <a:latin typeface="Segoe UI"/>
              </a:rPr>
              <a:t>EXPERIMENT 04 · ANALOG GAIN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41400"/>
            <a:ext cx="6556248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111111"/>
                </a:solidFill>
                <a:latin typeface="Segoe UI"/>
              </a:rPr>
              <a:t>Common-Source Amplifier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2212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50720"/>
            <a:ext cx="6556248" cy="375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latin typeface="Segoe UI"/>
              </a:rPr>
              <a:t>Design a resistively loaded nMOS common-source amplifier and verify its bias point, small-signal voltage gain, output headroom and dominant-pole estimate.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940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THEORY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48000"/>
            <a:ext cx="6556248" cy="6140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latin typeface="Segoe UI"/>
              </a:rPr>
              <a:t>The common-source stage converts input gate-voltage variation into an inverted drain-voltage swing.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latin typeface="Segoe UI"/>
              </a:rPr>
              <a:t>The output quiescent voltage must stay inside a useful swing, while drain-node capacitance and output resistance set a dominant-pole estimate.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8243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DESIGN RELATION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11040"/>
            <a:ext cx="3186684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111111"/>
                </a:solidFill>
                <a:latin typeface="Consolas"/>
              </a:rPr>
              <a:t>Av = −gm · (RD ∥ ro)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2484" y="428243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APPARATUS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2484" y="4511040"/>
            <a:ext cx="3186684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ctr">
              <a:spcAft>
                <a:spcPts val="200"/>
              </a:spcAft>
            </a:pPr>
            <a:r>
              <a:rPr lang="en-US" sz="1000" dirty="0">
                <a:solidFill>
                  <a:srgbClr val="444444"/>
                </a:solidFill>
                <a:latin typeface="Consolas"/>
              </a:rPr>
              <a:t>run_analysis.py </a:t>
            </a:r>
          </a:p>
          <a:p>
            <a:pPr algn="ctr">
              <a:spcAft>
                <a:spcPts val="200"/>
              </a:spcAft>
            </a:pPr>
            <a:r>
              <a:rPr lang="en-US" sz="1000" dirty="0" err="1">
                <a:solidFill>
                  <a:srgbClr val="444444"/>
                </a:solidFill>
                <a:latin typeface="Consolas"/>
              </a:rPr>
              <a:t>design.cir</a:t>
            </a:r>
            <a:endParaRPr lang="en-US" sz="1000" dirty="0">
              <a:solidFill>
                <a:srgbClr val="444444"/>
              </a:solidFill>
              <a:latin typeface="Consolas"/>
            </a:endParaRPr>
          </a:p>
          <a:p>
            <a:pPr algn="ctr">
              <a:spcAft>
                <a:spcPts val="200"/>
              </a:spcAft>
            </a:pPr>
            <a:r>
              <a:rPr lang="en-US" sz="1000" dirty="0" err="1">
                <a:solidFill>
                  <a:srgbClr val="444444"/>
                </a:solidFill>
                <a:latin typeface="Consolas"/>
              </a:rPr>
              <a:t>ngspice</a:t>
            </a:r>
            <a:endParaRPr lang="en-US" sz="1000" dirty="0">
              <a:solidFill>
                <a:srgbClr val="444444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537972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PROCEDURE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17464"/>
            <a:ext cx="6556248" cy="102870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9A9AA0"/>
                </a:solidFill>
                <a:latin typeface="Consolas"/>
              </a:rPr>
              <a:t>cd </a:t>
            </a:r>
            <a:r>
              <a:rPr sz="850" b="0" i="0" dirty="0" err="1">
                <a:solidFill>
                  <a:srgbClr val="9A9AA0"/>
                </a:solidFill>
                <a:latin typeface="Consolas"/>
              </a:rPr>
              <a:t>experiment_folder</a:t>
            </a:r>
            <a:endParaRPr sz="850" b="0" i="0" dirty="0">
              <a:solidFill>
                <a:srgbClr val="9A9AA0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workspace create --env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analog_experiments</a:t>
            </a: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script run_analysis.py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ngspice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-b -o build/spice.log spice/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design.cir</a:t>
            </a: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lang="en-US" sz="900" dirty="0">
                <a:solidFill>
                  <a:srgbClr val="EF9529"/>
                </a:solidFill>
                <a:latin typeface="Consolas"/>
              </a:rPr>
              <a:t>type .\build\spice.log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sz="900" b="0" i="0" dirty="0">
              <a:solidFill>
                <a:srgbClr val="EF9529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76655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ANALYTICAL VERIFICATION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6989064"/>
            <a:ext cx="3186684" cy="123444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>
                <a:solidFill>
                  <a:srgbClr val="EF9529"/>
                </a:solidFill>
                <a:latin typeface="Consolas"/>
              </a:rPr>
              <a:t>$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script run_analysis.py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gm=1.00 mS 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ro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=125.0 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kOhm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 gain=-6.90 V/V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 err="1">
                <a:solidFill>
                  <a:srgbClr val="EDEDED"/>
                </a:solidFill>
                <a:latin typeface="Consolas"/>
              </a:rPr>
              <a:t>VoutQ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=1.05 V pole=230.8 MHz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PASS 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common_source_amplifier</a:t>
            </a:r>
            <a:endParaRPr sz="850" b="0" i="0" dirty="0">
              <a:solidFill>
                <a:srgbClr val="EDEDED"/>
              </a:solidFill>
              <a:latin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72484" y="676655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SPICE 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72484" y="6989064"/>
            <a:ext cx="3186684" cy="123444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>
                <a:solidFill>
                  <a:srgbClr val="EF9529"/>
                </a:solidFill>
                <a:latin typeface="Consolas"/>
              </a:rPr>
              <a:t>$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ngspice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-b -o build/spice.log spice/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design.cir</a:t>
            </a: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v(out) = 1.300673e+00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Tool '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ngspice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' completed successfully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1019556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10259568"/>
            <a:ext cx="215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© 2026 Ignytion IO · ignytion.io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102595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July 2026 · Version 1.0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10259568"/>
            <a:ext cx="2029968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750" dirty="0">
                <a:solidFill>
                  <a:srgbClr val="777777"/>
                </a:solidFill>
                <a:latin typeface="Segoe UI"/>
              </a:rPr>
              <a:t>10</a:t>
            </a:r>
            <a:r>
              <a:rPr sz="750" b="0" i="0" dirty="0">
                <a:solidFill>
                  <a:srgbClr val="777777"/>
                </a:solidFill>
                <a:latin typeface="Segoe UI"/>
              </a:rPr>
              <a:t> / 1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6</a:t>
            </a:r>
            <a:endParaRPr sz="750" b="0" i="0" dirty="0">
              <a:solidFill>
                <a:srgbClr val="777777"/>
              </a:solidFill>
              <a:latin typeface="Segoe U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BF6F3B1-23B4-8680-96C0-98B061708FAF}"/>
              </a:ext>
            </a:extLst>
          </p:cNvPr>
          <p:cNvSpPr/>
          <p:nvPr/>
        </p:nvSpPr>
        <p:spPr>
          <a:xfrm>
            <a:off x="502919" y="60960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E533CC2D-5044-E241-E06F-39A216245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820" y="221896"/>
            <a:ext cx="165625" cy="209551"/>
          </a:xfrm>
          <a:prstGeom prst="rect">
            <a:avLst/>
          </a:prstGeom>
        </p:spPr>
      </p:pic>
      <p:sp>
        <p:nvSpPr>
          <p:cNvPr id="37" name="Text 3">
            <a:extLst>
              <a:ext uri="{FF2B5EF4-FFF2-40B4-BE49-F238E27FC236}">
                <a16:creationId xmlns:a16="http://schemas.microsoft.com/office/drawing/2014/main" id="{F8BD8F8E-AA7D-7A6B-234A-1991C3B1805E}"/>
              </a:ext>
            </a:extLst>
          </p:cNvPr>
          <p:cNvSpPr/>
          <p:nvPr/>
        </p:nvSpPr>
        <p:spPr>
          <a:xfrm>
            <a:off x="6571624" y="275235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749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12A8CDD-677B-C1EA-D7CF-B8ACE3711AFB}"/>
              </a:ext>
            </a:extLst>
          </p:cNvPr>
          <p:cNvSpPr/>
          <p:nvPr/>
        </p:nvSpPr>
        <p:spPr>
          <a:xfrm>
            <a:off x="0" y="0"/>
            <a:ext cx="7562088" cy="44450"/>
          </a:xfrm>
          <a:prstGeom prst="rect">
            <a:avLst/>
          </a:prstGeom>
          <a:solidFill>
            <a:srgbClr val="EF9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07BA63-A30C-AB08-C0DB-43CC1586354D}"/>
              </a:ext>
            </a:extLst>
          </p:cNvPr>
          <p:cNvSpPr txBox="1"/>
          <p:nvPr/>
        </p:nvSpPr>
        <p:spPr>
          <a:xfrm>
            <a:off x="503301" y="300376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10" dirty="0">
                <a:solidFill>
                  <a:srgbClr val="777777"/>
                </a:solidFill>
                <a:latin typeface="Segoe UI"/>
              </a:rPr>
              <a:t>EXPERIMENT 4 · COMMON-SOURCE AMPLIFIER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FB804E-D54D-C244-E12D-36F3E7DAD83B}"/>
              </a:ext>
            </a:extLst>
          </p:cNvPr>
          <p:cNvSpPr txBox="1"/>
          <p:nvPr/>
        </p:nvSpPr>
        <p:spPr>
          <a:xfrm>
            <a:off x="502920" y="762000"/>
            <a:ext cx="6556248" cy="148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 spc="160" dirty="0">
                <a:solidFill>
                  <a:srgbClr val="EF9529"/>
                </a:solidFill>
                <a:latin typeface="Segoe UI"/>
              </a:rPr>
              <a:t>EXPERIMENT 04 ·</a:t>
            </a:r>
            <a:r>
              <a:rPr lang="en-US" sz="950" b="1" i="0" spc="160" dirty="0">
                <a:solidFill>
                  <a:srgbClr val="EF9529"/>
                </a:solidFill>
                <a:latin typeface="Segoe UI"/>
              </a:rPr>
              <a:t> (contd.)</a:t>
            </a:r>
            <a:endParaRPr sz="950" b="1" i="0" spc="160" dirty="0">
              <a:solidFill>
                <a:srgbClr val="EF9529"/>
              </a:solidFill>
              <a:latin typeface="Segoe U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941935-81CA-9CAF-2971-9D7EC409E572}"/>
              </a:ext>
            </a:extLst>
          </p:cNvPr>
          <p:cNvSpPr txBox="1"/>
          <p:nvPr/>
        </p:nvSpPr>
        <p:spPr>
          <a:xfrm>
            <a:off x="502920" y="8091571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 dirty="0">
                <a:solidFill>
                  <a:srgbClr val="EF9529"/>
                </a:solidFill>
                <a:latin typeface="Segoe UI"/>
              </a:rPr>
              <a:t>RESULT</a:t>
            </a:r>
            <a:r>
              <a:rPr lang="en-US" sz="850" b="1" i="0" spc="110" dirty="0">
                <a:solidFill>
                  <a:srgbClr val="EF9529"/>
                </a:solidFill>
                <a:latin typeface="Segoe UI"/>
              </a:rPr>
              <a:t> </a:t>
            </a:r>
            <a:endParaRPr sz="850" b="1" i="0" spc="110" dirty="0">
              <a:solidFill>
                <a:srgbClr val="EF9529"/>
              </a:solidFill>
              <a:latin typeface="Segoe U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0832A9-C9F8-375A-4B6D-5C4F9C56FE4F}"/>
              </a:ext>
            </a:extLst>
          </p:cNvPr>
          <p:cNvSpPr txBox="1"/>
          <p:nvPr/>
        </p:nvSpPr>
        <p:spPr>
          <a:xfrm>
            <a:off x="502920" y="8320171"/>
            <a:ext cx="6556248" cy="34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Segoe UI"/>
              </a:rPr>
              <a:t>The amplifier reaches −6.90 V/V gain with a 1.05 V output quiescent point and an estimated 230.8 MHz dominant pole. plot() renders the inverted small-signal waveform.</a:t>
            </a:r>
          </a:p>
        </p:txBody>
      </p:sp>
      <p:sp>
        <p:nvSpPr>
          <p:cNvPr id="17" name="Rounded Rectangle 23">
            <a:extLst>
              <a:ext uri="{FF2B5EF4-FFF2-40B4-BE49-F238E27FC236}">
                <a16:creationId xmlns:a16="http://schemas.microsoft.com/office/drawing/2014/main" id="{42B70749-F984-DDED-ACB2-FA061B529EC9}"/>
              </a:ext>
            </a:extLst>
          </p:cNvPr>
          <p:cNvSpPr/>
          <p:nvPr/>
        </p:nvSpPr>
        <p:spPr>
          <a:xfrm>
            <a:off x="503301" y="9047461"/>
            <a:ext cx="6556248" cy="577850"/>
          </a:xfrm>
          <a:prstGeom prst="roundRect">
            <a:avLst>
              <a:gd name="adj" fmla="val 12000"/>
            </a:avLst>
          </a:prstGeom>
          <a:solidFill>
            <a:srgbClr val="FBF3E7"/>
          </a:solidFill>
          <a:ln w="12700">
            <a:solidFill>
              <a:srgbClr val="EF9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880F75-B13E-B453-31D5-955F8D194CCB}"/>
              </a:ext>
            </a:extLst>
          </p:cNvPr>
          <p:cNvSpPr txBox="1"/>
          <p:nvPr/>
        </p:nvSpPr>
        <p:spPr>
          <a:xfrm>
            <a:off x="613029" y="9066511"/>
            <a:ext cx="38735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EF9529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F2C39A-C96D-7BB5-27D7-CE9BF8CD5A99}"/>
              </a:ext>
            </a:extLst>
          </p:cNvPr>
          <p:cNvSpPr txBox="1"/>
          <p:nvPr/>
        </p:nvSpPr>
        <p:spPr>
          <a:xfrm>
            <a:off x="1006221" y="9104611"/>
            <a:ext cx="5916168" cy="179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 dirty="0">
                <a:solidFill>
                  <a:srgbClr val="111111"/>
                </a:solidFill>
                <a:latin typeface="Segoe UI"/>
              </a:rPr>
              <a:t>Experiment 4 </a:t>
            </a:r>
            <a:r>
              <a:rPr lang="en-US" sz="1150" b="1" i="0" dirty="0">
                <a:solidFill>
                  <a:srgbClr val="111111"/>
                </a:solidFill>
                <a:latin typeface="Segoe UI"/>
              </a:rPr>
              <a:t>-</a:t>
            </a:r>
            <a:r>
              <a:rPr sz="1150" b="1" i="0" dirty="0">
                <a:solidFill>
                  <a:srgbClr val="111111"/>
                </a:solidFill>
                <a:latin typeface="Segoe UI"/>
              </a:rPr>
              <a:t> PASS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29ECEA-45BB-96E0-EA9E-2AF5D5FC58B3}"/>
              </a:ext>
            </a:extLst>
          </p:cNvPr>
          <p:cNvSpPr txBox="1"/>
          <p:nvPr/>
        </p:nvSpPr>
        <p:spPr>
          <a:xfrm>
            <a:off x="1006221" y="9339561"/>
            <a:ext cx="5916168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444444"/>
                </a:solidFill>
                <a:latin typeface="Segoe UI"/>
              </a:rPr>
              <a:t>Key result: Gain −6.90 V/V, pole 230.8 MHz.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95ABE7-B4DD-F17C-D195-740F40CCCF88}"/>
              </a:ext>
            </a:extLst>
          </p:cNvPr>
          <p:cNvSpPr/>
          <p:nvPr/>
        </p:nvSpPr>
        <p:spPr>
          <a:xfrm>
            <a:off x="502920" y="1019556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E7D80B-565B-F298-82F2-FC375704B43F}"/>
              </a:ext>
            </a:extLst>
          </p:cNvPr>
          <p:cNvSpPr txBox="1"/>
          <p:nvPr/>
        </p:nvSpPr>
        <p:spPr>
          <a:xfrm>
            <a:off x="502920" y="10259568"/>
            <a:ext cx="215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© 2026 Ignytion IO · ignytion.io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C0EEB0-6153-B1B6-5497-8B4A4E833C05}"/>
              </a:ext>
            </a:extLst>
          </p:cNvPr>
          <p:cNvSpPr txBox="1"/>
          <p:nvPr/>
        </p:nvSpPr>
        <p:spPr>
          <a:xfrm>
            <a:off x="2743200" y="102595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July 2026 · Version 1.0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B1D973-819C-7165-5065-742103F90D65}"/>
              </a:ext>
            </a:extLst>
          </p:cNvPr>
          <p:cNvSpPr txBox="1"/>
          <p:nvPr/>
        </p:nvSpPr>
        <p:spPr>
          <a:xfrm>
            <a:off x="5029200" y="10259568"/>
            <a:ext cx="2029968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750" dirty="0">
                <a:solidFill>
                  <a:srgbClr val="777777"/>
                </a:solidFill>
                <a:latin typeface="Segoe UI"/>
              </a:rPr>
              <a:t>11</a:t>
            </a:r>
            <a:r>
              <a:rPr sz="750" b="0" i="0" dirty="0">
                <a:solidFill>
                  <a:srgbClr val="777777"/>
                </a:solidFill>
                <a:latin typeface="Segoe UI"/>
              </a:rPr>
              <a:t> / 1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6</a:t>
            </a:r>
            <a:endParaRPr sz="750" b="0" i="0" dirty="0">
              <a:solidFill>
                <a:srgbClr val="777777"/>
              </a:solidFill>
              <a:latin typeface="Segoe UI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03B7CD5-F822-5EBF-6CD3-3B3A12BE9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20934"/>
            <a:ext cx="6556248" cy="2683758"/>
          </a:xfrm>
          <a:prstGeom prst="roundRect">
            <a:avLst>
              <a:gd name="adj" fmla="val 4000"/>
            </a:avLst>
          </a:prstGeom>
          <a:ln w="9525">
            <a:solidFill>
              <a:srgbClr val="D6CDBF"/>
            </a:solidFill>
          </a:ln>
          <a:effectLst>
            <a:outerShdw blurRad="101600" dist="38100" dir="5400000" rotWithShape="0">
              <a:srgbClr val="000000">
                <a:alpha val="28000"/>
              </a:srgbClr>
            </a:outerShdw>
          </a:effec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68311D8-4349-C20D-6BD2-CD265C263644}"/>
              </a:ext>
            </a:extLst>
          </p:cNvPr>
          <p:cNvSpPr/>
          <p:nvPr/>
        </p:nvSpPr>
        <p:spPr>
          <a:xfrm>
            <a:off x="502919" y="60960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83308AB9-8B8D-4133-9EE4-C43B1365C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820" y="221896"/>
            <a:ext cx="165625" cy="209551"/>
          </a:xfrm>
          <a:prstGeom prst="rect">
            <a:avLst/>
          </a:prstGeom>
        </p:spPr>
      </p:pic>
      <p:sp>
        <p:nvSpPr>
          <p:cNvPr id="39" name="Text 3">
            <a:extLst>
              <a:ext uri="{FF2B5EF4-FFF2-40B4-BE49-F238E27FC236}">
                <a16:creationId xmlns:a16="http://schemas.microsoft.com/office/drawing/2014/main" id="{D87C5168-4D9A-C37E-98CC-84993A4F0545}"/>
              </a:ext>
            </a:extLst>
          </p:cNvPr>
          <p:cNvSpPr/>
          <p:nvPr/>
        </p:nvSpPr>
        <p:spPr>
          <a:xfrm>
            <a:off x="6571624" y="275235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FA0760-9683-BB48-CAA4-5A09AFAEDF8E}"/>
              </a:ext>
            </a:extLst>
          </p:cNvPr>
          <p:cNvSpPr txBox="1"/>
          <p:nvPr/>
        </p:nvSpPr>
        <p:spPr>
          <a:xfrm>
            <a:off x="502918" y="104140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850" b="1" i="0" spc="110" dirty="0">
                <a:solidFill>
                  <a:srgbClr val="EF9529"/>
                </a:solidFill>
                <a:latin typeface="Segoe UI"/>
              </a:rPr>
              <a:t>CRUCIBLE EXECUTION</a:t>
            </a:r>
            <a:endParaRPr sz="850" b="1" i="0" spc="110" dirty="0">
              <a:solidFill>
                <a:srgbClr val="EF9529"/>
              </a:solidFill>
              <a:latin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94003-AA07-EF99-2395-DCB3C5FB8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26" y="4777567"/>
            <a:ext cx="5043671" cy="30262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704FD0-AF9A-AE52-7472-0AAEDEB3F209}"/>
              </a:ext>
            </a:extLst>
          </p:cNvPr>
          <p:cNvSpPr txBox="1"/>
          <p:nvPr/>
        </p:nvSpPr>
        <p:spPr>
          <a:xfrm>
            <a:off x="502918" y="4480628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850" b="1" i="0" spc="110" dirty="0">
                <a:solidFill>
                  <a:srgbClr val="EF9529"/>
                </a:solidFill>
                <a:latin typeface="Segoe UI"/>
              </a:rPr>
              <a:t>PLOT GENERATED ON CRUCIBLE</a:t>
            </a:r>
            <a:endParaRPr sz="850" b="1" i="0" spc="110" dirty="0">
              <a:solidFill>
                <a:srgbClr val="EF9529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95825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44450"/>
          </a:xfrm>
          <a:prstGeom prst="rect">
            <a:avLst/>
          </a:prstGeom>
          <a:solidFill>
            <a:srgbClr val="EF9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1940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10" dirty="0">
                <a:solidFill>
                  <a:srgbClr val="777777"/>
                </a:solidFill>
                <a:latin typeface="Segoe UI"/>
              </a:rPr>
              <a:t>EXPERIMENT 5 · CMOS DIFFERENTIAL AMPLIFIER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2000"/>
            <a:ext cx="6556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 spc="160">
                <a:solidFill>
                  <a:srgbClr val="EF9529"/>
                </a:solidFill>
                <a:latin typeface="Segoe UI"/>
              </a:rPr>
              <a:t>EXPERIMENT 05 · DIFFERENTIAL ANALOG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41400"/>
            <a:ext cx="6556248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111111"/>
                </a:solidFill>
                <a:latin typeface="Segoe UI"/>
              </a:rPr>
              <a:t>CMOS Differential Amplifier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2212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50720"/>
            <a:ext cx="6556248" cy="375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latin typeface="Segoe UI"/>
              </a:rPr>
              <a:t>Design a CMOS differential amplifier and estimate differential gain, common-mode gain, CMRR and input common-mode range.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940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THEORY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48000"/>
            <a:ext cx="6556248" cy="798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latin typeface="Segoe UI"/>
              </a:rPr>
              <a:t>A differential amplifier responds to input difference while rejecting common-mode motion. Key checks are differential gain, tail biasing, common-mode range and CMRR.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latin typeface="Segoe UI"/>
              </a:rPr>
              <a:t>The flow computes differential and common-mode gain, reports CMRR in dB, and verifies headroom against the bias assumptions.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8243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DESIGN RELATION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11040"/>
            <a:ext cx="3186684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111111"/>
                </a:solidFill>
                <a:latin typeface="Consolas"/>
              </a:rPr>
              <a:t>CMRR = | Ad / Acm 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2484" y="428243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APPARATUS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2484" y="4511040"/>
            <a:ext cx="3186684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ctr">
              <a:spcAft>
                <a:spcPts val="200"/>
              </a:spcAft>
            </a:pPr>
            <a:r>
              <a:rPr lang="en-US" sz="1000" dirty="0">
                <a:solidFill>
                  <a:srgbClr val="444444"/>
                </a:solidFill>
                <a:latin typeface="Consolas"/>
              </a:rPr>
              <a:t>run_analysis.py </a:t>
            </a:r>
          </a:p>
          <a:p>
            <a:pPr algn="ctr">
              <a:spcAft>
                <a:spcPts val="200"/>
              </a:spcAft>
            </a:pPr>
            <a:r>
              <a:rPr lang="en-US" sz="1000" dirty="0" err="1">
                <a:solidFill>
                  <a:srgbClr val="444444"/>
                </a:solidFill>
                <a:latin typeface="Consolas"/>
              </a:rPr>
              <a:t>design.cir</a:t>
            </a:r>
            <a:endParaRPr lang="en-US" sz="1000" dirty="0">
              <a:solidFill>
                <a:srgbClr val="444444"/>
              </a:solidFill>
              <a:latin typeface="Consolas"/>
            </a:endParaRPr>
          </a:p>
          <a:p>
            <a:pPr algn="ctr">
              <a:spcAft>
                <a:spcPts val="200"/>
              </a:spcAft>
            </a:pPr>
            <a:r>
              <a:rPr lang="en-US" sz="1000" dirty="0" err="1">
                <a:solidFill>
                  <a:srgbClr val="444444"/>
                </a:solidFill>
                <a:latin typeface="Consolas"/>
              </a:rPr>
              <a:t>ngspice</a:t>
            </a:r>
            <a:endParaRPr lang="en-US" sz="1000" dirty="0">
              <a:solidFill>
                <a:srgbClr val="444444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537972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PROCEDURE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17464"/>
            <a:ext cx="6556248" cy="102870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9A9AA0"/>
                </a:solidFill>
                <a:latin typeface="Consolas"/>
              </a:rPr>
              <a:t>cd </a:t>
            </a:r>
            <a:r>
              <a:rPr sz="850" b="0" i="0" dirty="0" err="1">
                <a:solidFill>
                  <a:srgbClr val="9A9AA0"/>
                </a:solidFill>
                <a:latin typeface="Consolas"/>
              </a:rPr>
              <a:t>experiment_folder</a:t>
            </a:r>
            <a:endParaRPr sz="850" b="0" i="0" dirty="0">
              <a:solidFill>
                <a:srgbClr val="9A9AA0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workspace create --env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analog_experiments</a:t>
            </a: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script run_analysis.py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ngspice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-b -o build/spice.log spice/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design.cir</a:t>
            </a: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lang="en-US" sz="900" dirty="0">
                <a:solidFill>
                  <a:srgbClr val="EF9529"/>
                </a:solidFill>
                <a:latin typeface="Consolas"/>
              </a:rPr>
              <a:t>type .\build\spice.log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sz="900" b="0" i="0" dirty="0">
              <a:solidFill>
                <a:srgbClr val="EF9529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76655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ANALYTICAL VERIFICATION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6989064"/>
            <a:ext cx="3186684" cy="123444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>
                <a:solidFill>
                  <a:srgbClr val="EF9529"/>
                </a:solidFill>
                <a:latin typeface="Consolas"/>
              </a:rPr>
              <a:t>$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script run_analysis.py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Ad=-5.73 V/V 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Acm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=-0.0057 CMRR=60.0 dB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VCM=[0.85,1.65] V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PASS 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cmos_differential_amplifier</a:t>
            </a:r>
            <a:endParaRPr sz="850" b="0" i="0" dirty="0">
              <a:solidFill>
                <a:srgbClr val="EDEDED"/>
              </a:solidFill>
              <a:latin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72484" y="676655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SPICE 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72484" y="6989064"/>
            <a:ext cx="3186684" cy="123444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>
                <a:solidFill>
                  <a:srgbClr val="EF9529"/>
                </a:solidFill>
                <a:latin typeface="Consolas"/>
              </a:rPr>
              <a:t>$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ngspice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-b -o build/spice.log spice/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design.cir</a:t>
            </a: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v(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outp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) = 2.691222e-01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v(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outn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) = 1.119067e+00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Tool '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ngspice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' completed successfully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1019556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10259568"/>
            <a:ext cx="215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© 2026 Ignytion IO · ignytion.io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102595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July 2026 · Version 1.0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10259568"/>
            <a:ext cx="2029968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750" dirty="0">
                <a:solidFill>
                  <a:srgbClr val="777777"/>
                </a:solidFill>
                <a:latin typeface="Segoe UI"/>
              </a:rPr>
              <a:t>12</a:t>
            </a:r>
            <a:r>
              <a:rPr sz="750" b="0" i="0" dirty="0">
                <a:solidFill>
                  <a:srgbClr val="777777"/>
                </a:solidFill>
                <a:latin typeface="Segoe UI"/>
              </a:rPr>
              <a:t> / 1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6</a:t>
            </a:r>
            <a:endParaRPr sz="750" b="0" i="0" dirty="0">
              <a:solidFill>
                <a:srgbClr val="777777"/>
              </a:solidFill>
              <a:latin typeface="Segoe U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DD8FB9-3DEB-1026-2796-B85C67472151}"/>
              </a:ext>
            </a:extLst>
          </p:cNvPr>
          <p:cNvSpPr/>
          <p:nvPr/>
        </p:nvSpPr>
        <p:spPr>
          <a:xfrm>
            <a:off x="502919" y="60960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F032F4CD-DAE9-B5C1-7420-BDAD50204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820" y="221896"/>
            <a:ext cx="165625" cy="209551"/>
          </a:xfrm>
          <a:prstGeom prst="rect">
            <a:avLst/>
          </a:prstGeom>
        </p:spPr>
      </p:pic>
      <p:sp>
        <p:nvSpPr>
          <p:cNvPr id="37" name="Text 3">
            <a:extLst>
              <a:ext uri="{FF2B5EF4-FFF2-40B4-BE49-F238E27FC236}">
                <a16:creationId xmlns:a16="http://schemas.microsoft.com/office/drawing/2014/main" id="{7726C42A-A8D9-7BA4-0A7F-3EF457A61C31}"/>
              </a:ext>
            </a:extLst>
          </p:cNvPr>
          <p:cNvSpPr/>
          <p:nvPr/>
        </p:nvSpPr>
        <p:spPr>
          <a:xfrm>
            <a:off x="6571624" y="275235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200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56DEF6-2074-6022-D5C1-82E88FCFA9B3}"/>
              </a:ext>
            </a:extLst>
          </p:cNvPr>
          <p:cNvSpPr txBox="1"/>
          <p:nvPr/>
        </p:nvSpPr>
        <p:spPr>
          <a:xfrm>
            <a:off x="502919" y="7747766"/>
            <a:ext cx="6802073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RESULT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174DD1-D058-4383-5217-4D9B073DBFC9}"/>
              </a:ext>
            </a:extLst>
          </p:cNvPr>
          <p:cNvSpPr txBox="1"/>
          <p:nvPr/>
        </p:nvSpPr>
        <p:spPr>
          <a:xfrm>
            <a:off x="502919" y="7976366"/>
            <a:ext cx="6802073" cy="34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latin typeface="Segoe UI"/>
              </a:rPr>
              <a:t>The amplifier reaches −5.73 V/V differential gain with 60.0 dB CMRR and a valid 0.85–1.65 V input common-mode range. plot() renders the Vod–Vid transfer curve.</a:t>
            </a:r>
          </a:p>
        </p:txBody>
      </p:sp>
      <p:sp>
        <p:nvSpPr>
          <p:cNvPr id="9" name="Rounded Rectangle 23">
            <a:extLst>
              <a:ext uri="{FF2B5EF4-FFF2-40B4-BE49-F238E27FC236}">
                <a16:creationId xmlns:a16="http://schemas.microsoft.com/office/drawing/2014/main" id="{C84E9257-18BE-0B75-1625-76814A56BEE2}"/>
              </a:ext>
            </a:extLst>
          </p:cNvPr>
          <p:cNvSpPr/>
          <p:nvPr/>
        </p:nvSpPr>
        <p:spPr>
          <a:xfrm>
            <a:off x="502919" y="8748363"/>
            <a:ext cx="6802073" cy="577850"/>
          </a:xfrm>
          <a:prstGeom prst="roundRect">
            <a:avLst>
              <a:gd name="adj" fmla="val 12000"/>
            </a:avLst>
          </a:prstGeom>
          <a:solidFill>
            <a:srgbClr val="FBF3E7"/>
          </a:solidFill>
          <a:ln w="12700">
            <a:solidFill>
              <a:srgbClr val="EF9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BD79C8-EC19-BB42-5277-9AC5541E6A20}"/>
              </a:ext>
            </a:extLst>
          </p:cNvPr>
          <p:cNvSpPr txBox="1"/>
          <p:nvPr/>
        </p:nvSpPr>
        <p:spPr>
          <a:xfrm>
            <a:off x="612648" y="8849826"/>
            <a:ext cx="401874" cy="343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EF9529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679571-A7C6-5EA3-73E6-AAD029F9D1DD}"/>
              </a:ext>
            </a:extLst>
          </p:cNvPr>
          <p:cNvSpPr txBox="1"/>
          <p:nvPr/>
        </p:nvSpPr>
        <p:spPr>
          <a:xfrm>
            <a:off x="1005839" y="8805513"/>
            <a:ext cx="6137993" cy="179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 dirty="0">
                <a:solidFill>
                  <a:srgbClr val="111111"/>
                </a:solidFill>
                <a:latin typeface="Segoe UI"/>
              </a:rPr>
              <a:t>Experiment 5 </a:t>
            </a:r>
            <a:r>
              <a:rPr lang="en-US" sz="1150" b="1" i="0" dirty="0">
                <a:solidFill>
                  <a:srgbClr val="111111"/>
                </a:solidFill>
                <a:latin typeface="Segoe UI"/>
              </a:rPr>
              <a:t>-</a:t>
            </a:r>
            <a:r>
              <a:rPr sz="1150" b="1" i="0" dirty="0">
                <a:solidFill>
                  <a:srgbClr val="111111"/>
                </a:solidFill>
                <a:latin typeface="Segoe UI"/>
              </a:rPr>
              <a:t> PASS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B1F58F-15F4-4ABF-794F-759052A588CB}"/>
              </a:ext>
            </a:extLst>
          </p:cNvPr>
          <p:cNvSpPr txBox="1"/>
          <p:nvPr/>
        </p:nvSpPr>
        <p:spPr>
          <a:xfrm>
            <a:off x="1005839" y="9040463"/>
            <a:ext cx="6137993" cy="148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444444"/>
                </a:solidFill>
                <a:latin typeface="Segoe UI"/>
              </a:rPr>
              <a:t>Key result: Gain −5.73 V/V, CMRR 60.0 dB.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74BB11-78FB-FCD1-2694-E8851D9F0A78}"/>
              </a:ext>
            </a:extLst>
          </p:cNvPr>
          <p:cNvSpPr/>
          <p:nvPr/>
        </p:nvSpPr>
        <p:spPr>
          <a:xfrm>
            <a:off x="0" y="0"/>
            <a:ext cx="7562088" cy="44450"/>
          </a:xfrm>
          <a:prstGeom prst="rect">
            <a:avLst/>
          </a:prstGeom>
          <a:solidFill>
            <a:srgbClr val="EF9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87277A-46D6-A1FD-C38D-F74CA6D95DC5}"/>
              </a:ext>
            </a:extLst>
          </p:cNvPr>
          <p:cNvSpPr txBox="1"/>
          <p:nvPr/>
        </p:nvSpPr>
        <p:spPr>
          <a:xfrm>
            <a:off x="502919" y="303720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10" dirty="0">
                <a:solidFill>
                  <a:srgbClr val="777777"/>
                </a:solidFill>
                <a:latin typeface="Segoe UI"/>
              </a:rPr>
              <a:t>EXPERIMENT 5 · CMOS DIFFERENTIAL AMPLIFIER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4E741A-371D-7DDA-C568-DC9F7742BFC5}"/>
              </a:ext>
            </a:extLst>
          </p:cNvPr>
          <p:cNvSpPr txBox="1"/>
          <p:nvPr/>
        </p:nvSpPr>
        <p:spPr>
          <a:xfrm>
            <a:off x="502920" y="762000"/>
            <a:ext cx="6556248" cy="148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 spc="160" dirty="0">
                <a:solidFill>
                  <a:srgbClr val="EF9529"/>
                </a:solidFill>
                <a:latin typeface="Segoe UI"/>
              </a:rPr>
              <a:t>EXPERIMENT 05 ·</a:t>
            </a:r>
            <a:r>
              <a:rPr lang="en-US" sz="950" b="1" i="0" spc="160" dirty="0">
                <a:solidFill>
                  <a:srgbClr val="EF9529"/>
                </a:solidFill>
                <a:latin typeface="Segoe UI"/>
              </a:rPr>
              <a:t> (contd.)</a:t>
            </a:r>
            <a:endParaRPr sz="950" b="1" i="0" spc="160" dirty="0">
              <a:solidFill>
                <a:srgbClr val="EF9529"/>
              </a:solidFill>
              <a:latin typeface="Segoe UI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837C13-02C6-2EC6-2FDB-08E8C77CA5FF}"/>
              </a:ext>
            </a:extLst>
          </p:cNvPr>
          <p:cNvSpPr/>
          <p:nvPr/>
        </p:nvSpPr>
        <p:spPr>
          <a:xfrm>
            <a:off x="502920" y="1019556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B52B18-7C6A-4257-C405-DAE911148A46}"/>
              </a:ext>
            </a:extLst>
          </p:cNvPr>
          <p:cNvSpPr txBox="1"/>
          <p:nvPr/>
        </p:nvSpPr>
        <p:spPr>
          <a:xfrm>
            <a:off x="502920" y="10259568"/>
            <a:ext cx="215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© 2026 Ignytion IO · ignytion.io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7F27BD-3DA9-0BDC-D8B7-12E9DA708651}"/>
              </a:ext>
            </a:extLst>
          </p:cNvPr>
          <p:cNvSpPr txBox="1"/>
          <p:nvPr/>
        </p:nvSpPr>
        <p:spPr>
          <a:xfrm>
            <a:off x="2743200" y="102595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July 2026 · Version 1.0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3395CA-C8D2-D427-BC82-660FF7BD2BAB}"/>
              </a:ext>
            </a:extLst>
          </p:cNvPr>
          <p:cNvSpPr txBox="1"/>
          <p:nvPr/>
        </p:nvSpPr>
        <p:spPr>
          <a:xfrm>
            <a:off x="5029200" y="10259568"/>
            <a:ext cx="2029968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750" dirty="0">
                <a:solidFill>
                  <a:srgbClr val="777777"/>
                </a:solidFill>
                <a:latin typeface="Segoe UI"/>
              </a:rPr>
              <a:t>13</a:t>
            </a:r>
            <a:r>
              <a:rPr sz="750" b="0" i="0" dirty="0">
                <a:solidFill>
                  <a:srgbClr val="777777"/>
                </a:solidFill>
                <a:latin typeface="Segoe UI"/>
              </a:rPr>
              <a:t> / 1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6</a:t>
            </a:r>
            <a:endParaRPr sz="750" b="0" i="0" dirty="0">
              <a:solidFill>
                <a:srgbClr val="777777"/>
              </a:solidFill>
              <a:latin typeface="Segoe UI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CD4AA36-1704-E2AF-6F5B-08E0B6109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8" y="1498593"/>
            <a:ext cx="6802073" cy="2382948"/>
          </a:xfrm>
          <a:prstGeom prst="roundRect">
            <a:avLst>
              <a:gd name="adj" fmla="val 4000"/>
            </a:avLst>
          </a:prstGeom>
          <a:ln w="9525">
            <a:solidFill>
              <a:srgbClr val="D6CDBF"/>
            </a:solidFill>
          </a:ln>
          <a:effectLst>
            <a:outerShdw blurRad="101600" dist="38100" dir="5400000" rotWithShape="0">
              <a:srgbClr val="000000">
                <a:alpha val="28000"/>
              </a:srgbClr>
            </a:outerShdw>
          </a:effec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A017F0A-4423-C3EE-48AA-32C0D6F114B6}"/>
              </a:ext>
            </a:extLst>
          </p:cNvPr>
          <p:cNvSpPr/>
          <p:nvPr/>
        </p:nvSpPr>
        <p:spPr>
          <a:xfrm>
            <a:off x="502919" y="60960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D2CDF2BB-3AA5-CAAA-8B85-D98755E31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820" y="221896"/>
            <a:ext cx="165625" cy="209551"/>
          </a:xfrm>
          <a:prstGeom prst="rect">
            <a:avLst/>
          </a:prstGeom>
        </p:spPr>
      </p:pic>
      <p:sp>
        <p:nvSpPr>
          <p:cNvPr id="39" name="Text 3">
            <a:extLst>
              <a:ext uri="{FF2B5EF4-FFF2-40B4-BE49-F238E27FC236}">
                <a16:creationId xmlns:a16="http://schemas.microsoft.com/office/drawing/2014/main" id="{727F2BC1-77F0-10FF-47D1-CBFB3FFB420E}"/>
              </a:ext>
            </a:extLst>
          </p:cNvPr>
          <p:cNvSpPr/>
          <p:nvPr/>
        </p:nvSpPr>
        <p:spPr>
          <a:xfrm>
            <a:off x="6571624" y="275235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3233BD-8E8A-918D-261F-94864F74C716}"/>
              </a:ext>
            </a:extLst>
          </p:cNvPr>
          <p:cNvSpPr txBox="1"/>
          <p:nvPr/>
        </p:nvSpPr>
        <p:spPr>
          <a:xfrm>
            <a:off x="502918" y="104140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850" b="1" i="0" spc="110" dirty="0">
                <a:solidFill>
                  <a:srgbClr val="EF9529"/>
                </a:solidFill>
                <a:latin typeface="Segoe UI"/>
              </a:rPr>
              <a:t>CRUCIBLE EXECUTION</a:t>
            </a:r>
            <a:endParaRPr sz="850" b="1" i="0" spc="110" dirty="0">
              <a:solidFill>
                <a:srgbClr val="EF9529"/>
              </a:solidFill>
              <a:latin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B98357-EE85-E5B2-5FEB-E4B028BBE743}"/>
              </a:ext>
            </a:extLst>
          </p:cNvPr>
          <p:cNvSpPr txBox="1"/>
          <p:nvPr/>
        </p:nvSpPr>
        <p:spPr>
          <a:xfrm>
            <a:off x="502918" y="4178431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850" b="1" spc="110" dirty="0">
                <a:solidFill>
                  <a:srgbClr val="EF9529"/>
                </a:solidFill>
                <a:latin typeface="Segoe UI"/>
              </a:rPr>
              <a:t>PLOT GENERATED ON CRUCIBLE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F99DCB-1B24-A582-C86E-89F9B7D94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8121" y="4445252"/>
            <a:ext cx="4086608" cy="306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960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44450"/>
          </a:xfrm>
          <a:prstGeom prst="rect">
            <a:avLst/>
          </a:prstGeom>
          <a:solidFill>
            <a:srgbClr val="EF9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9619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10">
                <a:solidFill>
                  <a:srgbClr val="777777"/>
                </a:solidFill>
                <a:latin typeface="Segoe UI"/>
              </a:rPr>
              <a:t>EXPERIMENT 6 · CMOS OP-AMP SQUARE-WAVE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2000"/>
            <a:ext cx="6556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 spc="160">
                <a:solidFill>
                  <a:srgbClr val="EF9529"/>
                </a:solidFill>
                <a:latin typeface="Segoe UI"/>
              </a:rPr>
              <a:t>EXPERIMENT 06 · OSCILLATOR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41400"/>
            <a:ext cx="6556248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111111"/>
                </a:solidFill>
                <a:latin typeface="Segoe UI"/>
              </a:rPr>
              <a:t>CMOS Op-Amp Square-Wave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2212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50720"/>
            <a:ext cx="6556248" cy="375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latin typeface="Segoe UI"/>
              </a:rPr>
              <a:t>Design an op-amp relaxation oscillator that produces a square wave above 1 MHz, and verify it in an interactive ngspice transient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940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 dirty="0">
                <a:solidFill>
                  <a:srgbClr val="EF9529"/>
                </a:solidFill>
                <a:latin typeface="Segoe UI"/>
              </a:rPr>
              <a:t>THEORY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48000"/>
            <a:ext cx="6556248" cy="798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dirty="0">
                <a:latin typeface="Segoe UI"/>
              </a:rPr>
              <a:t>The circuit is a Schmitt-trigger relaxation oscillator: a capacitor charges and discharges between thresholds set by the feedback factor around a mid-supply reference.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dirty="0">
                <a:latin typeface="Segoe UI"/>
              </a:rPr>
              <a:t>The chosen R and C give a frequency above 1 MHz at a near-50% duty cycle; the clamped comparator holds the output between the rails so it oscillates instead of diverging.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8243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DESIGN RELATION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11040"/>
            <a:ext cx="3186684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111111"/>
                </a:solidFill>
                <a:latin typeface="Consolas"/>
              </a:rPr>
              <a:t>f = 1 / ( 2·R·C·ln((1+β)/(1−β))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2484" y="428243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APPARATUS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2484" y="4511040"/>
            <a:ext cx="3186684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ctr">
              <a:spcAft>
                <a:spcPts val="200"/>
              </a:spcAft>
            </a:pPr>
            <a:r>
              <a:rPr lang="en-US" sz="1000" dirty="0">
                <a:solidFill>
                  <a:srgbClr val="444444"/>
                </a:solidFill>
                <a:latin typeface="Consolas"/>
              </a:rPr>
              <a:t>run_analysis.py </a:t>
            </a:r>
          </a:p>
          <a:p>
            <a:pPr algn="ctr">
              <a:spcAft>
                <a:spcPts val="200"/>
              </a:spcAft>
            </a:pPr>
            <a:r>
              <a:rPr lang="en-US" sz="1000" dirty="0" err="1">
                <a:solidFill>
                  <a:srgbClr val="444444"/>
                </a:solidFill>
                <a:latin typeface="Consolas"/>
              </a:rPr>
              <a:t>design.cir</a:t>
            </a:r>
            <a:endParaRPr lang="en-US" sz="1000" dirty="0">
              <a:solidFill>
                <a:srgbClr val="444444"/>
              </a:solidFill>
              <a:latin typeface="Consolas"/>
            </a:endParaRPr>
          </a:p>
          <a:p>
            <a:pPr algn="ctr">
              <a:spcAft>
                <a:spcPts val="200"/>
              </a:spcAft>
            </a:pPr>
            <a:r>
              <a:rPr lang="en-US" sz="1000" dirty="0" err="1">
                <a:solidFill>
                  <a:srgbClr val="444444"/>
                </a:solidFill>
                <a:latin typeface="Consolas"/>
              </a:rPr>
              <a:t>ngspice</a:t>
            </a:r>
            <a:endParaRPr lang="en-US" sz="1000" dirty="0">
              <a:solidFill>
                <a:srgbClr val="444444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537972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PROCEDURE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17464"/>
            <a:ext cx="6556248" cy="102870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9A9AA0"/>
                </a:solidFill>
                <a:latin typeface="Consolas"/>
              </a:rPr>
              <a:t>cd </a:t>
            </a:r>
            <a:r>
              <a:rPr sz="850" b="0" i="0" dirty="0" err="1">
                <a:solidFill>
                  <a:srgbClr val="9A9AA0"/>
                </a:solidFill>
                <a:latin typeface="Consolas"/>
              </a:rPr>
              <a:t>experiment_folder</a:t>
            </a:r>
            <a:endParaRPr sz="850" b="0" i="0" dirty="0">
              <a:solidFill>
                <a:srgbClr val="9A9AA0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workspace create --env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analog_experiments</a:t>
            </a: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script run_analysis.py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ngspice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-o build/spice.log spice/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design.cir</a:t>
            </a: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sz="900" b="0" i="0" dirty="0">
              <a:solidFill>
                <a:srgbClr val="EF9529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76655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 dirty="0">
                <a:solidFill>
                  <a:srgbClr val="EF9529"/>
                </a:solidFill>
                <a:latin typeface="Segoe UI"/>
              </a:rPr>
              <a:t>ANALYTICAL VERIFICATION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6989064"/>
            <a:ext cx="3186684" cy="123444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>
                <a:solidFill>
                  <a:srgbClr val="EF9529"/>
                </a:solidFill>
                <a:latin typeface="Consolas"/>
              </a:rPr>
              <a:t>$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script run_analysis.py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R=8.20 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kOhm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 C=50.0 pF beta=0.50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 err="1">
                <a:solidFill>
                  <a:srgbClr val="EDEDED"/>
                </a:solidFill>
                <a:latin typeface="Consolas"/>
              </a:rPr>
              <a:t>freq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=1.110 MHz duty=0.50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PASS </a:t>
            </a:r>
            <a:r>
              <a:rPr sz="850" b="0" i="0" dirty="0" err="1">
                <a:solidFill>
                  <a:srgbClr val="EDEDED"/>
                </a:solidFill>
                <a:latin typeface="Consolas"/>
              </a:rPr>
              <a:t>opamp_square_wave_generator</a:t>
            </a:r>
            <a:endParaRPr sz="850" b="0" i="0" dirty="0">
              <a:solidFill>
                <a:srgbClr val="EDEDED"/>
              </a:solidFill>
              <a:latin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72484" y="6766559"/>
            <a:ext cx="318668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>
                <a:solidFill>
                  <a:srgbClr val="EF9529"/>
                </a:solidFill>
                <a:latin typeface="Segoe UI"/>
              </a:rPr>
              <a:t>SPICE 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72484" y="6989064"/>
            <a:ext cx="3186684" cy="1234440"/>
          </a:xfrm>
          <a:prstGeom prst="roundRect">
            <a:avLst>
              <a:gd name="adj" fmla="val 5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91440" rtlCol="0" anchor="t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lang="en-US"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 dirty="0">
                <a:solidFill>
                  <a:srgbClr val="EF9529"/>
                </a:solidFill>
                <a:latin typeface="Consolas"/>
              </a:rPr>
              <a:t>$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igny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run 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ngspice</a:t>
            </a:r>
            <a:r>
              <a:rPr sz="900" b="0" i="0" dirty="0">
                <a:solidFill>
                  <a:srgbClr val="EF9529"/>
                </a:solidFill>
                <a:latin typeface="Consolas"/>
              </a:rPr>
              <a:t> -o build/spice.log spice/</a:t>
            </a:r>
            <a:r>
              <a:rPr sz="900" b="0" i="0" dirty="0" err="1">
                <a:solidFill>
                  <a:srgbClr val="EF9529"/>
                </a:solidFill>
                <a:latin typeface="Consolas"/>
              </a:rPr>
              <a:t>design.cir</a:t>
            </a:r>
            <a:endParaRPr sz="900" b="0" i="0" dirty="0">
              <a:solidFill>
                <a:srgbClr val="EF9529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Transient run </a:t>
            </a:r>
            <a:r>
              <a:rPr lang="en-US" sz="850" b="0" i="0" dirty="0">
                <a:solidFill>
                  <a:srgbClr val="EDEDED"/>
                </a:solidFill>
                <a:latin typeface="Consolas"/>
              </a:rPr>
              <a:t>-</a:t>
            </a:r>
            <a:r>
              <a:rPr sz="850" b="0" i="0" dirty="0">
                <a:solidFill>
                  <a:srgbClr val="EDEDED"/>
                </a:solidFill>
                <a:latin typeface="Consolas"/>
              </a:rPr>
              <a:t> .control opens plot v(out)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 dirty="0">
                <a:solidFill>
                  <a:srgbClr val="EDEDED"/>
                </a:solidFill>
                <a:latin typeface="Consolas"/>
              </a:rPr>
              <a:t>Sustained square wave, 0 &lt;-&gt; 1.8 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1019556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10259568"/>
            <a:ext cx="215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© 2026 Ignytion IO · ignytion.io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102595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July 2026 · Version 1.0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10259568"/>
            <a:ext cx="2029968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750" dirty="0">
                <a:solidFill>
                  <a:srgbClr val="777777"/>
                </a:solidFill>
                <a:latin typeface="Segoe UI"/>
              </a:rPr>
              <a:t>14</a:t>
            </a:r>
            <a:r>
              <a:rPr sz="750" b="0" i="0" dirty="0">
                <a:solidFill>
                  <a:srgbClr val="777777"/>
                </a:solidFill>
                <a:latin typeface="Segoe UI"/>
              </a:rPr>
              <a:t> / 1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6</a:t>
            </a:r>
            <a:endParaRPr sz="750" b="0" i="0" dirty="0">
              <a:solidFill>
                <a:srgbClr val="777777"/>
              </a:solidFill>
              <a:latin typeface="Segoe U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9F66EF-5609-C83E-0563-1439B49AE380}"/>
              </a:ext>
            </a:extLst>
          </p:cNvPr>
          <p:cNvSpPr/>
          <p:nvPr/>
        </p:nvSpPr>
        <p:spPr>
          <a:xfrm>
            <a:off x="502919" y="60960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DAEBCAD4-CC0F-92D0-79E0-14E366AF1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820" y="221896"/>
            <a:ext cx="165625" cy="209551"/>
          </a:xfrm>
          <a:prstGeom prst="rect">
            <a:avLst/>
          </a:prstGeom>
        </p:spPr>
      </p:pic>
      <p:sp>
        <p:nvSpPr>
          <p:cNvPr id="37" name="Text 3">
            <a:extLst>
              <a:ext uri="{FF2B5EF4-FFF2-40B4-BE49-F238E27FC236}">
                <a16:creationId xmlns:a16="http://schemas.microsoft.com/office/drawing/2014/main" id="{8BE0B442-56C8-3596-DBB1-73F9FDB277C3}"/>
              </a:ext>
            </a:extLst>
          </p:cNvPr>
          <p:cNvSpPr/>
          <p:nvPr/>
        </p:nvSpPr>
        <p:spPr>
          <a:xfrm>
            <a:off x="6571624" y="275235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581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0F57AE-5DD8-0A25-DF2C-94E8CAA4936B}"/>
              </a:ext>
            </a:extLst>
          </p:cNvPr>
          <p:cNvSpPr/>
          <p:nvPr/>
        </p:nvSpPr>
        <p:spPr>
          <a:xfrm>
            <a:off x="0" y="0"/>
            <a:ext cx="7562088" cy="44450"/>
          </a:xfrm>
          <a:prstGeom prst="rect">
            <a:avLst/>
          </a:prstGeom>
          <a:solidFill>
            <a:srgbClr val="EF9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B0B8FB-2885-25DA-B226-45B7BC470D44}"/>
              </a:ext>
            </a:extLst>
          </p:cNvPr>
          <p:cNvSpPr txBox="1"/>
          <p:nvPr/>
        </p:nvSpPr>
        <p:spPr>
          <a:xfrm>
            <a:off x="502920" y="31087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10">
                <a:solidFill>
                  <a:srgbClr val="777777"/>
                </a:solidFill>
                <a:latin typeface="Segoe UI"/>
              </a:rPr>
              <a:t>EXPERIMENT 6 · CMOS OP-AMP SQUARE-WAVE GENERATOR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055882-2AF2-A1D5-149F-B94EF3CA4FFC}"/>
              </a:ext>
            </a:extLst>
          </p:cNvPr>
          <p:cNvSpPr txBox="1"/>
          <p:nvPr/>
        </p:nvSpPr>
        <p:spPr>
          <a:xfrm>
            <a:off x="502920" y="762000"/>
            <a:ext cx="6556248" cy="148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 spc="160" dirty="0">
                <a:solidFill>
                  <a:srgbClr val="EF9529"/>
                </a:solidFill>
                <a:latin typeface="Segoe UI"/>
              </a:rPr>
              <a:t>EXPERIMENT 06 ·</a:t>
            </a:r>
            <a:r>
              <a:rPr lang="en-US" sz="950" b="1" i="0" spc="160" dirty="0">
                <a:solidFill>
                  <a:srgbClr val="EF9529"/>
                </a:solidFill>
                <a:latin typeface="Segoe UI"/>
              </a:rPr>
              <a:t> (contd.)</a:t>
            </a:r>
            <a:endParaRPr sz="950" b="1" i="0" spc="160" dirty="0">
              <a:solidFill>
                <a:srgbClr val="EF9529"/>
              </a:solidFill>
              <a:latin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2A97E7-1966-6F6F-AE4E-0E0BF5D6A805}"/>
              </a:ext>
            </a:extLst>
          </p:cNvPr>
          <p:cNvSpPr/>
          <p:nvPr/>
        </p:nvSpPr>
        <p:spPr>
          <a:xfrm>
            <a:off x="502920" y="1019556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9C9FFB-C806-090D-3B2D-C4AA2DF8945D}"/>
              </a:ext>
            </a:extLst>
          </p:cNvPr>
          <p:cNvSpPr txBox="1"/>
          <p:nvPr/>
        </p:nvSpPr>
        <p:spPr>
          <a:xfrm>
            <a:off x="502920" y="10259568"/>
            <a:ext cx="215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© 2026 Ignytion IO · ignytion.io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1056F7-9BB5-02E8-AB02-2CC3DE66AB4A}"/>
              </a:ext>
            </a:extLst>
          </p:cNvPr>
          <p:cNvSpPr txBox="1"/>
          <p:nvPr/>
        </p:nvSpPr>
        <p:spPr>
          <a:xfrm>
            <a:off x="2743200" y="102595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July 2026 · Version 1.0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8077F2-13B7-D9A7-85E6-67F8EE022861}"/>
              </a:ext>
            </a:extLst>
          </p:cNvPr>
          <p:cNvSpPr txBox="1"/>
          <p:nvPr/>
        </p:nvSpPr>
        <p:spPr>
          <a:xfrm>
            <a:off x="5029200" y="10259568"/>
            <a:ext cx="2029968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750" dirty="0">
                <a:solidFill>
                  <a:srgbClr val="777777"/>
                </a:solidFill>
                <a:latin typeface="Segoe UI"/>
              </a:rPr>
              <a:t>15</a:t>
            </a:r>
            <a:r>
              <a:rPr sz="750" b="0" i="0" dirty="0">
                <a:solidFill>
                  <a:srgbClr val="777777"/>
                </a:solidFill>
                <a:latin typeface="Segoe UI"/>
              </a:rPr>
              <a:t> / 1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6</a:t>
            </a:r>
            <a:endParaRPr sz="750" b="0" i="0" dirty="0">
              <a:solidFill>
                <a:srgbClr val="777777"/>
              </a:solidFill>
              <a:latin typeface="Segoe U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732001-0B7F-7844-4C5F-7F4F43530DA7}"/>
              </a:ext>
            </a:extLst>
          </p:cNvPr>
          <p:cNvSpPr txBox="1"/>
          <p:nvPr/>
        </p:nvSpPr>
        <p:spPr>
          <a:xfrm>
            <a:off x="452816" y="5162258"/>
            <a:ext cx="6729264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10" dirty="0">
                <a:solidFill>
                  <a:srgbClr val="EF9529"/>
                </a:solidFill>
                <a:latin typeface="Segoe UI"/>
              </a:rPr>
              <a:t>RESULT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1F79DD-F367-98F3-EAD6-42B30439FD96}"/>
              </a:ext>
            </a:extLst>
          </p:cNvPr>
          <p:cNvSpPr txBox="1"/>
          <p:nvPr/>
        </p:nvSpPr>
        <p:spPr>
          <a:xfrm>
            <a:off x="452816" y="5390858"/>
            <a:ext cx="6729264" cy="34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Segoe UI"/>
              </a:rPr>
              <a:t>The RC network gives a 1.110 MHz oscillation at ~50% duty. Run without -b so the .control / plot block opens the live square-wave waveform in the </a:t>
            </a:r>
            <a:r>
              <a:rPr sz="1100" b="0" i="0" dirty="0" err="1">
                <a:latin typeface="Segoe UI"/>
              </a:rPr>
              <a:t>ngspice</a:t>
            </a:r>
            <a:r>
              <a:rPr sz="1100" b="0" i="0" dirty="0">
                <a:latin typeface="Segoe UI"/>
              </a:rPr>
              <a:t> GUI.</a:t>
            </a: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DFB869AF-E8B7-2A19-B5C2-53A48DC2FA6B}"/>
              </a:ext>
            </a:extLst>
          </p:cNvPr>
          <p:cNvSpPr/>
          <p:nvPr/>
        </p:nvSpPr>
        <p:spPr>
          <a:xfrm>
            <a:off x="471604" y="6016067"/>
            <a:ext cx="6587563" cy="577850"/>
          </a:xfrm>
          <a:prstGeom prst="roundRect">
            <a:avLst>
              <a:gd name="adj" fmla="val 12000"/>
            </a:avLst>
          </a:prstGeom>
          <a:solidFill>
            <a:srgbClr val="FBF3E7"/>
          </a:solidFill>
          <a:ln w="12700">
            <a:solidFill>
              <a:srgbClr val="EF9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623B0B-28CB-6332-DED2-401366BC5AAF}"/>
              </a:ext>
            </a:extLst>
          </p:cNvPr>
          <p:cNvSpPr txBox="1"/>
          <p:nvPr/>
        </p:nvSpPr>
        <p:spPr>
          <a:xfrm>
            <a:off x="581333" y="6117531"/>
            <a:ext cx="389200" cy="343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EF9529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71BCB9-C806-5340-F89A-E320A035A013}"/>
              </a:ext>
            </a:extLst>
          </p:cNvPr>
          <p:cNvSpPr txBox="1"/>
          <p:nvPr/>
        </p:nvSpPr>
        <p:spPr>
          <a:xfrm>
            <a:off x="974525" y="6073217"/>
            <a:ext cx="5944426" cy="179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 dirty="0">
                <a:solidFill>
                  <a:srgbClr val="111111"/>
                </a:solidFill>
                <a:latin typeface="Segoe UI"/>
              </a:rPr>
              <a:t>Experiment 6 </a:t>
            </a:r>
            <a:r>
              <a:rPr lang="en-US" sz="1150" b="1" i="0" dirty="0">
                <a:solidFill>
                  <a:srgbClr val="111111"/>
                </a:solidFill>
                <a:latin typeface="Segoe UI"/>
              </a:rPr>
              <a:t>-</a:t>
            </a:r>
            <a:r>
              <a:rPr sz="1150" b="1" i="0" dirty="0">
                <a:solidFill>
                  <a:srgbClr val="111111"/>
                </a:solidFill>
                <a:latin typeface="Segoe UI"/>
              </a:rPr>
              <a:t> PASS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A8B315-60FB-9D2A-2511-989A021C5816}"/>
              </a:ext>
            </a:extLst>
          </p:cNvPr>
          <p:cNvSpPr txBox="1"/>
          <p:nvPr/>
        </p:nvSpPr>
        <p:spPr>
          <a:xfrm>
            <a:off x="974525" y="6308167"/>
            <a:ext cx="5944426" cy="148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444444"/>
                </a:solidFill>
                <a:latin typeface="Segoe UI"/>
              </a:rPr>
              <a:t>Key result: Frequency 1.110 MHz, duty 0.50.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17C54F7-4C31-2801-C540-4DB159D3D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65676"/>
            <a:ext cx="2536602" cy="1823523"/>
          </a:xfrm>
          <a:prstGeom prst="roundRect">
            <a:avLst>
              <a:gd name="adj" fmla="val 4000"/>
            </a:avLst>
          </a:prstGeom>
          <a:ln w="9525">
            <a:solidFill>
              <a:srgbClr val="D6CDBF"/>
            </a:solidFill>
          </a:ln>
          <a:effectLst>
            <a:outerShdw blurRad="101600" dist="38100" dir="5400000" rotWithShape="0">
              <a:srgbClr val="000000">
                <a:alpha val="28000"/>
              </a:srgb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E0465AB-A6D0-6CF6-2B4C-B48E9D8B3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637" y="3016162"/>
            <a:ext cx="3693531" cy="1369290"/>
          </a:xfrm>
          <a:prstGeom prst="roundRect">
            <a:avLst>
              <a:gd name="adj" fmla="val 4000"/>
            </a:avLst>
          </a:prstGeom>
          <a:ln w="9525">
            <a:solidFill>
              <a:srgbClr val="D6CDBF"/>
            </a:solidFill>
          </a:ln>
          <a:effectLst>
            <a:outerShdw blurRad="101600" dist="38100" dir="5400000" rotWithShape="0">
              <a:srgbClr val="000000">
                <a:alpha val="28000"/>
              </a:srgbClr>
            </a:outerShdw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0C6F590-61A3-14C2-119C-A38BEE2DD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28465"/>
            <a:ext cx="6556248" cy="733456"/>
          </a:xfrm>
          <a:prstGeom prst="roundRect">
            <a:avLst>
              <a:gd name="adj" fmla="val 4000"/>
            </a:avLst>
          </a:prstGeom>
          <a:ln w="9525">
            <a:solidFill>
              <a:srgbClr val="D6CDBF"/>
            </a:solidFill>
          </a:ln>
          <a:effectLst>
            <a:outerShdw blurRad="101600" dist="38100" dir="5400000" rotWithShape="0">
              <a:srgbClr val="000000">
                <a:alpha val="28000"/>
              </a:srgbClr>
            </a:outerShdw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B142F08-22DF-3191-C1C7-22A5CB8B3A63}"/>
              </a:ext>
            </a:extLst>
          </p:cNvPr>
          <p:cNvSpPr txBox="1"/>
          <p:nvPr/>
        </p:nvSpPr>
        <p:spPr>
          <a:xfrm>
            <a:off x="502920" y="1041400"/>
            <a:ext cx="655624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850" b="1" i="0" spc="110" dirty="0">
                <a:solidFill>
                  <a:srgbClr val="EF9529"/>
                </a:solidFill>
                <a:latin typeface="Segoe UI"/>
              </a:rPr>
              <a:t>CRUCIBLE EXECUTION</a:t>
            </a:r>
            <a:endParaRPr sz="850" b="1" i="0" spc="110" dirty="0">
              <a:solidFill>
                <a:srgbClr val="EF9529"/>
              </a:solidFill>
              <a:latin typeface="Segoe UI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4D447E-067D-B368-DDCD-2C04DAB93DF6}"/>
              </a:ext>
            </a:extLst>
          </p:cNvPr>
          <p:cNvSpPr txBox="1"/>
          <p:nvPr/>
        </p:nvSpPr>
        <p:spPr>
          <a:xfrm>
            <a:off x="539934" y="2412406"/>
            <a:ext cx="249958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850" b="1" i="0" spc="110" dirty="0">
                <a:solidFill>
                  <a:srgbClr val="EF9529"/>
                </a:solidFill>
                <a:latin typeface="Segoe UI"/>
              </a:rPr>
              <a:t>S</a:t>
            </a:r>
            <a:r>
              <a:rPr lang="en-US" sz="850" b="1" spc="110" dirty="0">
                <a:solidFill>
                  <a:srgbClr val="EF9529"/>
                </a:solidFill>
                <a:latin typeface="Segoe UI"/>
              </a:rPr>
              <a:t>QUARE WAVE OUTPUT</a:t>
            </a:r>
            <a:endParaRPr sz="850" b="1" i="0" spc="110" dirty="0">
              <a:solidFill>
                <a:srgbClr val="EF9529"/>
              </a:solidFill>
              <a:latin typeface="Segoe U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8F9894-3153-1039-A99C-DC7A4164A6B9}"/>
              </a:ext>
            </a:extLst>
          </p:cNvPr>
          <p:cNvSpPr txBox="1"/>
          <p:nvPr/>
        </p:nvSpPr>
        <p:spPr>
          <a:xfrm>
            <a:off x="3365637" y="2412406"/>
            <a:ext cx="2499588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850" b="1" i="0" spc="110" dirty="0">
                <a:solidFill>
                  <a:srgbClr val="EF9529"/>
                </a:solidFill>
                <a:latin typeface="Segoe UI"/>
              </a:rPr>
              <a:t>NGSPICE GUI</a:t>
            </a:r>
            <a:endParaRPr sz="850" b="1" i="0" spc="110" dirty="0">
              <a:solidFill>
                <a:srgbClr val="EF9529"/>
              </a:solidFill>
              <a:latin typeface="Segoe UI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7C29B1A-9331-0EEB-197A-9A421A0DAAF0}"/>
              </a:ext>
            </a:extLst>
          </p:cNvPr>
          <p:cNvSpPr/>
          <p:nvPr/>
        </p:nvSpPr>
        <p:spPr>
          <a:xfrm>
            <a:off x="502919" y="60960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Image 0" descr="preencoded.png">
            <a:extLst>
              <a:ext uri="{FF2B5EF4-FFF2-40B4-BE49-F238E27FC236}">
                <a16:creationId xmlns:a16="http://schemas.microsoft.com/office/drawing/2014/main" id="{D7D2E806-1155-9451-5263-DE83583CEA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820" y="221896"/>
            <a:ext cx="165625" cy="209551"/>
          </a:xfrm>
          <a:prstGeom prst="rect">
            <a:avLst/>
          </a:prstGeom>
        </p:spPr>
      </p:pic>
      <p:sp>
        <p:nvSpPr>
          <p:cNvPr id="49" name="Text 3">
            <a:extLst>
              <a:ext uri="{FF2B5EF4-FFF2-40B4-BE49-F238E27FC236}">
                <a16:creationId xmlns:a16="http://schemas.microsoft.com/office/drawing/2014/main" id="{AF7BEF8C-2167-9EB4-5C48-37AEC22D8FB7}"/>
              </a:ext>
            </a:extLst>
          </p:cNvPr>
          <p:cNvSpPr/>
          <p:nvPr/>
        </p:nvSpPr>
        <p:spPr>
          <a:xfrm>
            <a:off x="6571624" y="275235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91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44450"/>
          </a:xfrm>
          <a:prstGeom prst="rect">
            <a:avLst/>
          </a:prstGeom>
          <a:solidFill>
            <a:srgbClr val="EF9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19" y="294576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10" dirty="0">
                <a:solidFill>
                  <a:srgbClr val="777777"/>
                </a:solidFill>
                <a:latin typeface="Segoe UI"/>
              </a:rPr>
              <a:t>ANALOG CMOS EXPERIMENTS · TECHNICAL LAB 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2000"/>
            <a:ext cx="6556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 spc="160">
                <a:solidFill>
                  <a:srgbClr val="EF9529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41400"/>
            <a:ext cx="65562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111111"/>
                </a:solidFill>
                <a:latin typeface="Segoe UI"/>
              </a:rPr>
              <a:t>Summary of Results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95628"/>
              </p:ext>
            </p:extLst>
          </p:nvPr>
        </p:nvGraphicFramePr>
        <p:xfrm>
          <a:off x="502920" y="1767839"/>
          <a:ext cx="6556246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3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2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850" b="1" i="0" spc="70">
                          <a:solidFill>
                            <a:srgbClr val="EDEDED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82296" marR="54864" marT="18288" marB="18288" anchor="ctr"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 i="0" spc="70">
                          <a:solidFill>
                            <a:srgbClr val="EDEDED"/>
                          </a:solidFill>
                          <a:latin typeface="Segoe UI"/>
                        </a:rPr>
                        <a:t>EXPERIMENT</a:t>
                      </a:r>
                    </a:p>
                  </a:txBody>
                  <a:tcPr marL="82296" marR="54864" marT="18288" marB="18288" anchor="ctr"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 i="0" spc="70">
                          <a:solidFill>
                            <a:srgbClr val="EDEDED"/>
                          </a:solidFill>
                          <a:latin typeface="Segoe UI"/>
                        </a:rPr>
                        <a:t>KEY RESULT</a:t>
                      </a:r>
                    </a:p>
                  </a:txBody>
                  <a:tcPr marL="82296" marR="54864" marT="18288" marB="18288" anchor="ctr"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 i="0" spc="70">
                          <a:solidFill>
                            <a:srgbClr val="EDEDED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82296" marR="54864" marT="18288" marB="18288" anchor="ctr">
                    <a:solidFill>
                      <a:srgbClr val="0B0B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MOSFET Parameter Extraction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Cox=7.458e-03 F/m², kn=3.356e-04 A/V²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✓ PASS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82296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Properly Biased Short-Channel nMOSFET</a:t>
                      </a:r>
                    </a:p>
                  </a:txBody>
                  <a:tcPr marL="82296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ID=100.0 µA, gm=1.00 mS, margin 0.70 V</a:t>
                      </a:r>
                    </a:p>
                  </a:txBody>
                  <a:tcPr marL="82296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✓ PASS</a:t>
                      </a:r>
                    </a:p>
                  </a:txBody>
                  <a:tcPr marL="82296" marR="54864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CMOS and Pseudo-nMOS 2-Input NAND Gate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Pseudo-nMOS low output 0.212 V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✓ PASS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82296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Common-Source Amplifier</a:t>
                      </a:r>
                    </a:p>
                  </a:txBody>
                  <a:tcPr marL="82296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Gain −6.90 V/V, pole 230.8 MHz</a:t>
                      </a:r>
                    </a:p>
                  </a:txBody>
                  <a:tcPr marL="82296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✓ PASS</a:t>
                      </a:r>
                    </a:p>
                  </a:txBody>
                  <a:tcPr marL="82296" marR="54864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CMOS Differential Amplifier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Gain −5.73 V/V, CMRR 60.0 dB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✓ PASS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82296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11111"/>
                          </a:solidFill>
                          <a:latin typeface="Segoe UI"/>
                        </a:rPr>
                        <a:t>CMOS Op-Amp Square-Wave Generator</a:t>
                      </a:r>
                    </a:p>
                  </a:txBody>
                  <a:tcPr marL="82296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 dirty="0">
                          <a:solidFill>
                            <a:srgbClr val="111111"/>
                          </a:solidFill>
                          <a:latin typeface="Segoe UI"/>
                        </a:rPr>
                        <a:t>Frequency 1.110 MHz, duty 0.50</a:t>
                      </a:r>
                    </a:p>
                  </a:txBody>
                  <a:tcPr marL="82296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 dirty="0">
                          <a:solidFill>
                            <a:srgbClr val="111111"/>
                          </a:solidFill>
                          <a:latin typeface="Segoe UI"/>
                        </a:rPr>
                        <a:t>✓ PASS</a:t>
                      </a:r>
                    </a:p>
                  </a:txBody>
                  <a:tcPr marL="82296" marR="54864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242560"/>
            <a:ext cx="6556248" cy="900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>
                <a:latin typeface="Segoe UI"/>
              </a:rPr>
              <a:t>All six analog CMOS experiments run successfully through the Crucible CLI. Each pairs design-equation verification with SPICE simulation, tied to a named environment so any engineer can reproduce the lab with identical tool versions </a:t>
            </a:r>
            <a:r>
              <a:rPr lang="en-US" sz="1200" b="0" i="0" dirty="0">
                <a:latin typeface="Segoe UI"/>
              </a:rPr>
              <a:t>-</a:t>
            </a:r>
            <a:r>
              <a:rPr sz="1200" b="0" i="0" dirty="0">
                <a:latin typeface="Segoe UI"/>
              </a:rPr>
              <a:t> design collateral, simulator execution and environment state kept together in one reproducible workflow.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19556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259568"/>
            <a:ext cx="215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© 2026 Ignytion IO · ignytion.io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02595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777777"/>
                </a:solidFill>
                <a:latin typeface="Segoe UI"/>
              </a:rPr>
              <a:t>July 2026 · Version 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0259568"/>
            <a:ext cx="2029968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 dirty="0">
                <a:solidFill>
                  <a:srgbClr val="777777"/>
                </a:solidFill>
                <a:latin typeface="Segoe UI"/>
              </a:rPr>
              <a:t>1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6</a:t>
            </a:r>
            <a:r>
              <a:rPr sz="750" b="0" i="0" dirty="0">
                <a:solidFill>
                  <a:srgbClr val="777777"/>
                </a:solidFill>
                <a:latin typeface="Segoe UI"/>
              </a:rPr>
              <a:t> / 1</a:t>
            </a:r>
            <a:r>
              <a:rPr lang="en-US" sz="750" b="0" i="0" dirty="0">
                <a:solidFill>
                  <a:srgbClr val="777777"/>
                </a:solidFill>
                <a:latin typeface="Segoe UI"/>
              </a:rPr>
              <a:t>6</a:t>
            </a:r>
            <a:endParaRPr sz="750" b="0" i="0" dirty="0">
              <a:solidFill>
                <a:srgbClr val="777777"/>
              </a:solidFill>
              <a:latin typeface="Segoe U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3D4032-1223-5878-A7FA-065AFCCC33A9}"/>
              </a:ext>
            </a:extLst>
          </p:cNvPr>
          <p:cNvSpPr/>
          <p:nvPr/>
        </p:nvSpPr>
        <p:spPr>
          <a:xfrm>
            <a:off x="502919" y="609600"/>
            <a:ext cx="6556248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8C5E42BA-DF0B-4451-AC40-0E306BC4A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820" y="221896"/>
            <a:ext cx="165625" cy="209551"/>
          </a:xfrm>
          <a:prstGeom prst="rect">
            <a:avLst/>
          </a:prstGeom>
        </p:spPr>
      </p:pic>
      <p:sp>
        <p:nvSpPr>
          <p:cNvPr id="18" name="Text 3">
            <a:extLst>
              <a:ext uri="{FF2B5EF4-FFF2-40B4-BE49-F238E27FC236}">
                <a16:creationId xmlns:a16="http://schemas.microsoft.com/office/drawing/2014/main" id="{8F05D0CD-2007-6DD3-7368-76DF41D591E5}"/>
              </a:ext>
            </a:extLst>
          </p:cNvPr>
          <p:cNvSpPr/>
          <p:nvPr/>
        </p:nvSpPr>
        <p:spPr>
          <a:xfrm>
            <a:off x="6571624" y="275235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73CA98-4399-47C4-841F-42774162F49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153c255-008d-40c4-9cd3-a72cf9f4e30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2711</Words>
  <Application>Microsoft Office PowerPoint</Application>
  <PresentationFormat>Custom</PresentationFormat>
  <Paragraphs>406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Ignytion-io Ae</dc:creator>
  <cp:keywords/>
  <dc:description>generated using python-pptx</dc:description>
  <cp:lastModifiedBy>Ignytion-io Ae</cp:lastModifiedBy>
  <cp:revision>8</cp:revision>
  <dcterms:created xsi:type="dcterms:W3CDTF">2013-01-27T09:14:16Z</dcterms:created>
  <dcterms:modified xsi:type="dcterms:W3CDTF">2026-07-08T17:00:08Z</dcterms:modified>
  <cp:category/>
</cp:coreProperties>
</file>